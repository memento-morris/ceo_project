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43"/>
  </p:notesMasterIdLst>
  <p:sldIdLst>
    <p:sldId id="284" r:id="rId5"/>
    <p:sldId id="2565" r:id="rId6"/>
    <p:sldId id="285" r:id="rId7"/>
    <p:sldId id="2569" r:id="rId8"/>
    <p:sldId id="264" r:id="rId9"/>
    <p:sldId id="257" r:id="rId10"/>
    <p:sldId id="2566" r:id="rId11"/>
    <p:sldId id="267" r:id="rId12"/>
    <p:sldId id="2568" r:id="rId13"/>
    <p:sldId id="269" r:id="rId14"/>
    <p:sldId id="305" r:id="rId15"/>
    <p:sldId id="307" r:id="rId16"/>
    <p:sldId id="304" r:id="rId17"/>
    <p:sldId id="303" r:id="rId18"/>
    <p:sldId id="302" r:id="rId19"/>
    <p:sldId id="306" r:id="rId20"/>
    <p:sldId id="2570" r:id="rId21"/>
    <p:sldId id="276" r:id="rId22"/>
    <p:sldId id="2576" r:id="rId23"/>
    <p:sldId id="2577" r:id="rId24"/>
    <p:sldId id="277" r:id="rId25"/>
    <p:sldId id="280" r:id="rId26"/>
    <p:sldId id="281" r:id="rId27"/>
    <p:sldId id="287" r:id="rId28"/>
    <p:sldId id="288" r:id="rId29"/>
    <p:sldId id="289" r:id="rId30"/>
    <p:sldId id="2578" r:id="rId31"/>
    <p:sldId id="278" r:id="rId32"/>
    <p:sldId id="2579" r:id="rId33"/>
    <p:sldId id="2572" r:id="rId34"/>
    <p:sldId id="2580" r:id="rId35"/>
    <p:sldId id="259" r:id="rId36"/>
    <p:sldId id="2573" r:id="rId37"/>
    <p:sldId id="2582" r:id="rId38"/>
    <p:sldId id="2581" r:id="rId39"/>
    <p:sldId id="2575" r:id="rId40"/>
    <p:sldId id="265" r:id="rId41"/>
    <p:sldId id="256" r:id="rId42"/>
  </p:sldIdLst>
  <p:sldSz cx="121681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9AC"/>
    <a:srgbClr val="004750"/>
    <a:srgbClr val="B0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0ADC8-D98F-49AD-9B18-0B59CEB84C5D}" v="110" dt="2026-02-17T18:05:39.537"/>
    <p1510:client id="{1C630492-A768-1E3D-17F7-5BDD37BB1AEF}" v="610" dt="2026-02-18T09:01:21.228"/>
    <p1510:client id="{30ACF953-525B-65E4-AF47-32497927E665}" v="352" dt="2026-02-18T09:40:36.161"/>
    <p1510:client id="{429692D8-C415-0297-BCE7-BBD49741FA02}" v="55" dt="2026-02-18T15:32:52.817"/>
    <p1510:client id="{5A218FCB-D69F-4E5A-992E-93D6B82593E8}" v="3289" dt="2026-02-18T14:23:55.699"/>
    <p1510:client id="{5AE40714-F3A6-94B9-2DB8-1583971099D1}" v="3" dt="2026-02-18T09:57:16.562"/>
    <p1510:client id="{5E640D06-1563-75E9-7F27-D8BFCB3AE96A}" v="253" dt="2026-02-17T16:03:25.443"/>
    <p1510:client id="{9821DC7B-0CDF-37A7-CE1F-B9F2A382F73E}" v="14" dt="2026-02-18T06:41:13.294"/>
    <p1510:client id="{999C7F42-E7DD-D1D6-E48C-0C79C91E1F72}" v="4" dt="2026-02-18T12:48:11.670"/>
    <p1510:client id="{9F0C08C1-36D7-F3BC-43AF-32EEFF2A8175}" v="1" dt="2026-02-18T14:22:50.124"/>
    <p1510:client id="{B423221C-0EDF-EEFD-6C29-8FDE5F40571D}" v="147" dt="2026-02-17T18:15:36.553"/>
    <p1510:client id="{B9190653-DC7A-A688-3DF2-7618DDE00C40}" v="325" dt="2026-02-17T19:51:58.983"/>
    <p1510:client id="{D546CE19-DE24-6D1C-4169-099587731509}" v="20" dt="2026-02-18T06:49:56.555"/>
    <p1510:client id="{D6FD7ECE-FBA1-D9E5-4EE4-71A70FD8F524}" v="189" dt="2026-02-18T10:47:35.062"/>
    <p1510:client id="{E02C3CA5-EE0C-8CBF-FA09-AF10DEBD9AF5}" v="549" dt="2026-02-18T07:25:13.047"/>
    <p1510:client id="{FAEDBAC9-E5D2-280C-EABE-4B513DBABFE5}" v="33" dt="2026-02-17T18:04:27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8T09:30:30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16907 2619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1250-181A-0543-94C5-DCDAF5DEF2EA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0563" y="1143000"/>
            <a:ext cx="5476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8207E-60B1-7D44-93B8-66F04C283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14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4" y="1122363"/>
            <a:ext cx="806449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00A9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4" y="3600000"/>
            <a:ext cx="8064499" cy="1655762"/>
          </a:xfrm>
        </p:spPr>
        <p:txBody>
          <a:bodyPr/>
          <a:lstStyle>
            <a:lvl1pPr marL="0" indent="0" algn="l">
              <a:buNone/>
              <a:defRPr sz="2395">
                <a:solidFill>
                  <a:srgbClr val="00A9AC"/>
                </a:solidFill>
              </a:defRPr>
            </a:lvl1pPr>
            <a:lvl2pPr marL="456286" indent="0" algn="ctr">
              <a:buNone/>
              <a:defRPr sz="1996"/>
            </a:lvl2pPr>
            <a:lvl3pPr marL="912571" indent="0" algn="ctr">
              <a:buNone/>
              <a:defRPr sz="1796"/>
            </a:lvl3pPr>
            <a:lvl4pPr marL="1368857" indent="0" algn="ctr">
              <a:buNone/>
              <a:defRPr sz="1597"/>
            </a:lvl4pPr>
            <a:lvl5pPr marL="1825142" indent="0" algn="ctr">
              <a:buNone/>
              <a:defRPr sz="1597"/>
            </a:lvl5pPr>
            <a:lvl6pPr marL="2281428" indent="0" algn="ctr">
              <a:buNone/>
              <a:defRPr sz="1597"/>
            </a:lvl6pPr>
            <a:lvl7pPr marL="2737714" indent="0" algn="ctr">
              <a:buNone/>
              <a:defRPr sz="1597"/>
            </a:lvl7pPr>
            <a:lvl8pPr marL="3193999" indent="0" algn="ctr">
              <a:buNone/>
              <a:defRPr sz="1597"/>
            </a:lvl8pPr>
            <a:lvl9pPr marL="3650285" indent="0" algn="ctr">
              <a:buNone/>
              <a:defRPr sz="159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360001"/>
            <a:ext cx="9575800" cy="242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900000"/>
            <a:ext cx="9575800" cy="51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1B99DA9A-3A9A-7E7A-8035-2C51DB1FA1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1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709739"/>
            <a:ext cx="8064500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4680000"/>
            <a:ext cx="8064500" cy="1500187"/>
          </a:xfrm>
        </p:spPr>
        <p:txBody>
          <a:bodyPr/>
          <a:lstStyle>
            <a:lvl1pPr marL="0" indent="0">
              <a:buNone/>
              <a:defRPr sz="2395">
                <a:solidFill>
                  <a:schemeClr val="tx1"/>
                </a:solidFill>
              </a:defRPr>
            </a:lvl1pPr>
            <a:lvl2pPr marL="456286" indent="0">
              <a:buNone/>
              <a:defRPr sz="1996">
                <a:solidFill>
                  <a:schemeClr val="tx1">
                    <a:tint val="75000"/>
                  </a:schemeClr>
                </a:solidFill>
              </a:defRPr>
            </a:lvl2pPr>
            <a:lvl3pPr marL="912571" indent="0">
              <a:buNone/>
              <a:defRPr sz="1796">
                <a:solidFill>
                  <a:schemeClr val="tx1">
                    <a:tint val="75000"/>
                  </a:schemeClr>
                </a:solidFill>
              </a:defRPr>
            </a:lvl3pPr>
            <a:lvl4pPr marL="1368857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4pPr>
            <a:lvl5pPr marL="1825142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5pPr>
            <a:lvl6pPr marL="2281428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6pPr>
            <a:lvl7pPr marL="2737714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7pPr>
            <a:lvl8pPr marL="3193999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8pPr>
            <a:lvl9pPr marL="3650285" indent="0">
              <a:buNone/>
              <a:defRPr sz="15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5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B1E379B1-FDD2-0433-75A5-294258E1CF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6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1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B0E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CCBDA9-90FC-2A40-830F-3B66534910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6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A9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CCBDA9-90FC-2A40-830F-3B66534910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2F460C-4686-8279-48EF-3F79F0FD53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113" y="6440850"/>
            <a:ext cx="52959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2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4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CCBDA9-90FC-2A40-830F-3B66534910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BE94F-610D-1AC9-12A7-438138DDE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113" y="6440850"/>
            <a:ext cx="52959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7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46" y="3987803"/>
            <a:ext cx="3039007" cy="2309785"/>
          </a:xfrm>
        </p:spPr>
        <p:txBody>
          <a:bodyPr anchor="t">
            <a:normAutofit/>
          </a:bodyPr>
          <a:lstStyle>
            <a:lvl1pPr>
              <a:defRPr sz="359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12168188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7623" y="3987803"/>
            <a:ext cx="744545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143" indent="0">
              <a:lnSpc>
                <a:spcPct val="100000"/>
              </a:lnSpc>
              <a:buNone/>
              <a:defRPr lang="en-US" dirty="0"/>
            </a:lvl2pPr>
            <a:lvl3pPr marL="456286" indent="0">
              <a:lnSpc>
                <a:spcPct val="100000"/>
              </a:lnSpc>
              <a:buNone/>
              <a:defRPr lang="en-US" dirty="0"/>
            </a:lvl3pPr>
            <a:lvl4pPr marL="684428" indent="0">
              <a:lnSpc>
                <a:spcPct val="100000"/>
              </a:lnSpc>
              <a:buNone/>
              <a:defRPr lang="en-US" dirty="0"/>
            </a:lvl4pPr>
            <a:lvl5pPr marL="912571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" y="4115092"/>
            <a:ext cx="802624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0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13" y="360001"/>
            <a:ext cx="10583862" cy="24287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900000"/>
            <a:ext cx="10583862" cy="514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8325" y="6408000"/>
            <a:ext cx="75565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FNB Sans Regular" panose="02000000000000000000" pitchFamily="2" charset="0"/>
              </a:defRPr>
            </a:lvl1pPr>
          </a:lstStyle>
          <a:p>
            <a:fld id="{CDCCBDA9-90FC-2A40-830F-3B66534910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2E6F89E-232A-3DFE-45FC-E97CF2F6E4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00113" y="6440849"/>
            <a:ext cx="52959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0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70" r:id="rId6"/>
    <p:sldLayoutId id="2147483671" r:id="rId7"/>
    <p:sldLayoutId id="2147483672" r:id="rId8"/>
    <p:sldLayoutId id="2147483673" r:id="rId9"/>
  </p:sldLayoutIdLst>
  <p:hf hdr="0" ftr="0" dt="0"/>
  <p:txStyles>
    <p:titleStyle>
      <a:lvl1pPr algn="l" defTabSz="912571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FNB Sans Regular" panose="02000000000000000000" pitchFamily="2" charset="0"/>
          <a:ea typeface="+mj-ea"/>
          <a:cs typeface="+mj-cs"/>
        </a:defRPr>
      </a:lvl1pPr>
    </p:titleStyle>
    <p:bodyStyle>
      <a:lvl1pPr marL="228143" indent="-228143" algn="l" defTabSz="912571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FNB Sans Regular" panose="02000000000000000000" pitchFamily="2" charset="0"/>
          <a:ea typeface="+mn-ea"/>
          <a:cs typeface="+mn-cs"/>
        </a:defRPr>
      </a:lvl1pPr>
      <a:lvl2pPr marL="684428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FNB Sans Regular" panose="02000000000000000000" pitchFamily="2" charset="0"/>
          <a:ea typeface="+mn-ea"/>
          <a:cs typeface="+mn-cs"/>
        </a:defRPr>
      </a:lvl2pPr>
      <a:lvl3pPr marL="1140714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FNB Sans Regular" panose="02000000000000000000" pitchFamily="2" charset="0"/>
          <a:ea typeface="+mn-ea"/>
          <a:cs typeface="+mn-cs"/>
        </a:defRPr>
      </a:lvl3pPr>
      <a:lvl4pPr marL="1597000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FNB Sans Regular" panose="02000000000000000000" pitchFamily="2" charset="0"/>
          <a:ea typeface="+mn-ea"/>
          <a:cs typeface="+mn-cs"/>
        </a:defRPr>
      </a:lvl4pPr>
      <a:lvl5pPr marL="2053285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FNB Sans Regular" panose="02000000000000000000" pitchFamily="2" charset="0"/>
          <a:ea typeface="+mn-ea"/>
          <a:cs typeface="+mn-cs"/>
        </a:defRPr>
      </a:lvl5pPr>
      <a:lvl6pPr marL="2509571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965856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422142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878428" indent="-228143" algn="l" defTabSz="9125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56286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912571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68857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825142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81428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737714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93999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650285" algn="l" defTabSz="912571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90" userDrawn="1">
          <p15:clr>
            <a:srgbClr val="A4A3A4"/>
          </p15:clr>
        </p15:guide>
        <p15:guide id="3" pos="431" userDrawn="1">
          <p15:clr>
            <a:srgbClr val="A4A3A4"/>
          </p15:clr>
        </p15:guide>
        <p15:guide id="4" pos="567" userDrawn="1">
          <p15:clr>
            <a:srgbClr val="A4A3A4"/>
          </p15:clr>
        </p15:guide>
        <p15:guide id="5" pos="884" userDrawn="1">
          <p15:clr>
            <a:srgbClr val="A4A3A4"/>
          </p15:clr>
        </p15:guide>
        <p15:guide id="6" pos="1043" userDrawn="1">
          <p15:clr>
            <a:srgbClr val="A4A3A4"/>
          </p15:clr>
        </p15:guide>
        <p15:guide id="7" pos="1360" userDrawn="1">
          <p15:clr>
            <a:srgbClr val="A4A3A4"/>
          </p15:clr>
        </p15:guide>
        <p15:guide id="8" pos="1519" userDrawn="1">
          <p15:clr>
            <a:srgbClr val="A4A3A4"/>
          </p15:clr>
        </p15:guide>
        <p15:guide id="9" pos="1837" userDrawn="1">
          <p15:clr>
            <a:srgbClr val="A4A3A4"/>
          </p15:clr>
        </p15:guide>
        <p15:guide id="10" pos="1995" userDrawn="1">
          <p15:clr>
            <a:srgbClr val="A4A3A4"/>
          </p15:clr>
        </p15:guide>
        <p15:guide id="11" pos="2313" userDrawn="1">
          <p15:clr>
            <a:srgbClr val="A4A3A4"/>
          </p15:clr>
        </p15:guide>
        <p15:guide id="12" pos="2472" userDrawn="1">
          <p15:clr>
            <a:srgbClr val="A4A3A4"/>
          </p15:clr>
        </p15:guide>
        <p15:guide id="13" pos="2789" userDrawn="1">
          <p15:clr>
            <a:srgbClr val="A4A3A4"/>
          </p15:clr>
        </p15:guide>
        <p15:guide id="14" pos="2948" userDrawn="1">
          <p15:clr>
            <a:srgbClr val="A4A3A4"/>
          </p15:clr>
        </p15:guide>
        <p15:guide id="15" pos="3266" userDrawn="1">
          <p15:clr>
            <a:srgbClr val="A4A3A4"/>
          </p15:clr>
        </p15:guide>
        <p15:guide id="16" pos="3424" userDrawn="1">
          <p15:clr>
            <a:srgbClr val="A4A3A4"/>
          </p15:clr>
        </p15:guide>
        <p15:guide id="17" pos="3742" userDrawn="1">
          <p15:clr>
            <a:srgbClr val="A4A3A4"/>
          </p15:clr>
        </p15:guide>
        <p15:guide id="18" pos="3901" userDrawn="1">
          <p15:clr>
            <a:srgbClr val="A4A3A4"/>
          </p15:clr>
        </p15:guide>
        <p15:guide id="19" pos="4218" userDrawn="1">
          <p15:clr>
            <a:srgbClr val="A4A3A4"/>
          </p15:clr>
        </p15:guide>
        <p15:guide id="20" pos="4377" userDrawn="1">
          <p15:clr>
            <a:srgbClr val="A4A3A4"/>
          </p15:clr>
        </p15:guide>
        <p15:guide id="21" pos="4694" userDrawn="1">
          <p15:clr>
            <a:srgbClr val="A4A3A4"/>
          </p15:clr>
        </p15:guide>
        <p15:guide id="22" pos="4853" userDrawn="1">
          <p15:clr>
            <a:srgbClr val="A4A3A4"/>
          </p15:clr>
        </p15:guide>
        <p15:guide id="23" pos="5171" userDrawn="1">
          <p15:clr>
            <a:srgbClr val="A4A3A4"/>
          </p15:clr>
        </p15:guide>
        <p15:guide id="24" pos="5329" userDrawn="1">
          <p15:clr>
            <a:srgbClr val="A4A3A4"/>
          </p15:clr>
        </p15:guide>
        <p15:guide id="25" pos="5647" userDrawn="1">
          <p15:clr>
            <a:srgbClr val="A4A3A4"/>
          </p15:clr>
        </p15:guide>
        <p15:guide id="26" pos="5806" userDrawn="1">
          <p15:clr>
            <a:srgbClr val="A4A3A4"/>
          </p15:clr>
        </p15:guide>
        <p15:guide id="27" pos="6123" userDrawn="1">
          <p15:clr>
            <a:srgbClr val="A4A3A4"/>
          </p15:clr>
        </p15:guide>
        <p15:guide id="28" pos="6282" userDrawn="1">
          <p15:clr>
            <a:srgbClr val="A4A3A4"/>
          </p15:clr>
        </p15:guide>
        <p15:guide id="29" pos="6599" userDrawn="1">
          <p15:clr>
            <a:srgbClr val="A4A3A4"/>
          </p15:clr>
        </p15:guide>
        <p15:guide id="30" pos="6758" userDrawn="1">
          <p15:clr>
            <a:srgbClr val="A4A3A4"/>
          </p15:clr>
        </p15:guide>
        <p15:guide id="31" pos="7076" userDrawn="1">
          <p15:clr>
            <a:srgbClr val="A4A3A4"/>
          </p15:clr>
        </p15:guide>
        <p15:guide id="32" pos="7234" userDrawn="1">
          <p15:clr>
            <a:srgbClr val="A4A3A4"/>
          </p15:clr>
        </p15:guide>
        <p15:guide id="33" pos="755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71A0-D972-E6F6-FBA8-A99100DC1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'It is dangerous to use MTN &amp; FNB for cellphone banking,' private ...">
            <a:extLst>
              <a:ext uri="{FF2B5EF4-FFF2-40B4-BE49-F238E27FC236}">
                <a16:creationId xmlns:a16="http://schemas.microsoft.com/office/drawing/2014/main" id="{A5E1C5A9-BF1D-5C0B-2512-40173DD82A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>
            <a:off x="3234" y="1617"/>
            <a:ext cx="12176256" cy="6860507"/>
          </a:xfrm>
          <a:prstGeom prst="rect">
            <a:avLst/>
          </a:prstGeom>
        </p:spPr>
      </p:pic>
      <p:sp>
        <p:nvSpPr>
          <p:cNvPr id="34" name="Subtitle 33">
            <a:extLst>
              <a:ext uri="{FF2B5EF4-FFF2-40B4-BE49-F238E27FC236}">
                <a16:creationId xmlns:a16="http://schemas.microsoft.com/office/drawing/2014/main" id="{637219B8-54D7-684E-55DF-49F5FD31E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0157" y="5724532"/>
            <a:ext cx="3927230" cy="626242"/>
          </a:xfrm>
        </p:spPr>
        <p:txBody>
          <a:bodyPr>
            <a:normAutofit/>
          </a:bodyPr>
          <a:lstStyle/>
          <a:p>
            <a:r>
              <a:rPr lang="en-US" sz="2800"/>
              <a:t>PRESENTED BY GROUP 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39205-DF41-05F2-F39B-B64742B39204}"/>
              </a:ext>
            </a:extLst>
          </p:cNvPr>
          <p:cNvSpPr txBox="1"/>
          <p:nvPr/>
        </p:nvSpPr>
        <p:spPr>
          <a:xfrm>
            <a:off x="6584734" y="4253912"/>
            <a:ext cx="52726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650" b="1">
                <a:solidFill>
                  <a:srgbClr val="004750"/>
                </a:solidFill>
                <a:latin typeface="FNB Sans Regular" panose="02000000000000000000" pitchFamily="50" charset="0"/>
              </a:rPr>
              <a:t>PAYSURE</a:t>
            </a:r>
          </a:p>
        </p:txBody>
      </p:sp>
    </p:spTree>
    <p:extLst>
      <p:ext uri="{BB962C8B-B14F-4D97-AF65-F5344CB8AC3E}">
        <p14:creationId xmlns:p14="http://schemas.microsoft.com/office/powerpoint/2010/main" val="233866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0851B-BD28-DB9C-737F-EBB30793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405B27-0E3A-6FAF-4983-230BE6095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6440850"/>
            <a:ext cx="5295900" cy="114300"/>
          </a:xfrm>
          <a:prstGeom prst="rect">
            <a:avLst/>
          </a:prstGeom>
        </p:spPr>
      </p:pic>
      <p:sp>
        <p:nvSpPr>
          <p:cNvPr id="9" name="Title 32">
            <a:extLst>
              <a:ext uri="{FF2B5EF4-FFF2-40B4-BE49-F238E27FC236}">
                <a16:creationId xmlns:a16="http://schemas.microsoft.com/office/drawing/2014/main" id="{C66F9FFB-9969-8831-3500-03AE2BA273A4}"/>
              </a:ext>
            </a:extLst>
          </p:cNvPr>
          <p:cNvSpPr txBox="1">
            <a:spLocks/>
          </p:cNvSpPr>
          <p:nvPr/>
        </p:nvSpPr>
        <p:spPr>
          <a:xfrm>
            <a:off x="3026847" y="673172"/>
            <a:ext cx="6499536" cy="66459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sz="7200" b="1">
                <a:solidFill>
                  <a:schemeClr val="bg1"/>
                </a:solidFill>
                <a:latin typeface="FNB Sans Regular" panose="02000000000000000000" pitchFamily="50" charset="0"/>
                <a:cs typeface="Hadassah Friedlaender"/>
              </a:rPr>
              <a:t>Meet The Team </a:t>
            </a:r>
            <a:endParaRPr lang="en-US" sz="4800">
              <a:solidFill>
                <a:schemeClr val="bg1"/>
              </a:solidFill>
              <a:latin typeface="FNB Sans Regular" panose="02000000000000000000" pitchFamily="50" charset="0"/>
            </a:endParaRPr>
          </a:p>
        </p:txBody>
      </p:sp>
      <p:pic>
        <p:nvPicPr>
          <p:cNvPr id="15" name="Picture 14" descr="A person with her hand on her hip&#10;&#10;AI-generated content may be incorrect.">
            <a:extLst>
              <a:ext uri="{FF2B5EF4-FFF2-40B4-BE49-F238E27FC236}">
                <a16:creationId xmlns:a16="http://schemas.microsoft.com/office/drawing/2014/main" id="{CE3D2F58-0165-6E2B-C39E-761DB2FB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560" y="1381521"/>
            <a:ext cx="1776134" cy="2480320"/>
          </a:xfrm>
          <a:prstGeom prst="rect">
            <a:avLst/>
          </a:prstGeom>
        </p:spPr>
      </p:pic>
      <p:pic>
        <p:nvPicPr>
          <p:cNvPr id="17" name="Picture 1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221D9C6A-8341-4561-E79A-0B780946D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640" y="1362407"/>
            <a:ext cx="1788196" cy="2499434"/>
          </a:xfrm>
          <a:prstGeom prst="rect">
            <a:avLst/>
          </a:prstGeom>
        </p:spPr>
      </p:pic>
      <p:pic>
        <p:nvPicPr>
          <p:cNvPr id="19" name="Picture 18" descr="A person in a white shirt&#10;&#10;AI-generated content may be incorrect.">
            <a:extLst>
              <a:ext uri="{FF2B5EF4-FFF2-40B4-BE49-F238E27FC236}">
                <a16:creationId xmlns:a16="http://schemas.microsoft.com/office/drawing/2014/main" id="{13B5D044-0423-7E4E-8C37-4E0C4B074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395" y="3844114"/>
            <a:ext cx="1776134" cy="2485008"/>
          </a:xfrm>
          <a:prstGeom prst="rect">
            <a:avLst/>
          </a:prstGeom>
        </p:spPr>
      </p:pic>
      <p:pic>
        <p:nvPicPr>
          <p:cNvPr id="21" name="Picture 20" descr="A person in a white shirt&#10;&#10;AI-generated content may be incorrect.">
            <a:extLst>
              <a:ext uri="{FF2B5EF4-FFF2-40B4-BE49-F238E27FC236}">
                <a16:creationId xmlns:a16="http://schemas.microsoft.com/office/drawing/2014/main" id="{99E73989-6105-87B2-DB28-8FB815E8E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640" y="3861841"/>
            <a:ext cx="1784000" cy="2503871"/>
          </a:xfrm>
          <a:prstGeom prst="rect">
            <a:avLst/>
          </a:prstGeom>
        </p:spPr>
      </p:pic>
      <p:pic>
        <p:nvPicPr>
          <p:cNvPr id="23" name="Picture 22" descr="A person in a suit&#10;&#10;AI-generated content may be incorrect.">
            <a:extLst>
              <a:ext uri="{FF2B5EF4-FFF2-40B4-BE49-F238E27FC236}">
                <a16:creationId xmlns:a16="http://schemas.microsoft.com/office/drawing/2014/main" id="{FAFA9434-2501-E574-454F-3E5E00A90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165" y="1331452"/>
            <a:ext cx="1711230" cy="25126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AF85B0-B304-9FF6-20A5-AECC3A6456EF}"/>
              </a:ext>
            </a:extLst>
          </p:cNvPr>
          <p:cNvSpPr txBox="1"/>
          <p:nvPr/>
        </p:nvSpPr>
        <p:spPr>
          <a:xfrm>
            <a:off x="3122296" y="2293815"/>
            <a:ext cx="1473489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TAAHIR </a:t>
            </a:r>
            <a:r>
              <a:rPr lang="en-US" sz="200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​</a:t>
            </a:r>
            <a:endParaRPr lang="en-US" sz="20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KOLIA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B4EC4C-0FAF-EBD4-E5A8-4379EA5FE679}"/>
              </a:ext>
            </a:extLst>
          </p:cNvPr>
          <p:cNvSpPr txBox="1"/>
          <p:nvPr/>
        </p:nvSpPr>
        <p:spPr>
          <a:xfrm>
            <a:off x="4805752" y="4751120"/>
            <a:ext cx="162559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MULISA</a:t>
            </a:r>
            <a:r>
              <a:rPr lang="en-US" sz="200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​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MATODZI</a:t>
            </a:r>
          </a:p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60B847-29F9-B3F2-B6AA-32422706AFF8}"/>
              </a:ext>
            </a:extLst>
          </p:cNvPr>
          <p:cNvSpPr txBox="1"/>
          <p:nvPr/>
        </p:nvSpPr>
        <p:spPr>
          <a:xfrm>
            <a:off x="8258138" y="4689549"/>
            <a:ext cx="162559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NEIL </a:t>
            </a:r>
            <a:r>
              <a:rPr lang="en-US" sz="200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​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SMIT</a:t>
            </a:r>
          </a:p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3A521-9A39-129D-E107-EAF94CCB0E5C}"/>
              </a:ext>
            </a:extLst>
          </p:cNvPr>
          <p:cNvSpPr txBox="1"/>
          <p:nvPr/>
        </p:nvSpPr>
        <p:spPr>
          <a:xfrm>
            <a:off x="6576275" y="2294172"/>
            <a:ext cx="159707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ALKA</a:t>
            </a:r>
            <a:r>
              <a:rPr lang="en-US" sz="200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​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SEWRAJ</a:t>
            </a:r>
          </a:p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55E09A-6BE8-428F-6A08-B2D8FE3BF9FF}"/>
              </a:ext>
            </a:extLst>
          </p:cNvPr>
          <p:cNvSpPr txBox="1"/>
          <p:nvPr/>
        </p:nvSpPr>
        <p:spPr>
          <a:xfrm>
            <a:off x="10165030" y="2293815"/>
            <a:ext cx="146398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MORRIS</a:t>
            </a:r>
            <a:r>
              <a:rPr lang="en-US" sz="200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2000" baseline="0">
                <a:solidFill>
                  <a:schemeClr val="bg1"/>
                </a:solidFill>
                <a:latin typeface="FNB Sans Regular"/>
                <a:ea typeface="Segoe UI"/>
                <a:cs typeface="Segoe UI"/>
              </a:rPr>
              <a:t>NKOMO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7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E3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C8E6A-9FC9-67C4-44C6-CC4B46C0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33">
            <a:extLst>
              <a:ext uri="{FF2B5EF4-FFF2-40B4-BE49-F238E27FC236}">
                <a16:creationId xmlns:a16="http://schemas.microsoft.com/office/drawing/2014/main" id="{53E3DA04-1E2D-7CF5-F256-680C5BDE8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5530" y="1757238"/>
            <a:ext cx="8064499" cy="2587929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350">
              <a:solidFill>
                <a:schemeClr val="tx1"/>
              </a:solidFill>
              <a:latin typeface="FNB Sans Regular"/>
            </a:endParaRP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746149-ABCE-D0D6-D9F2-B87E6DFCA776}"/>
              </a:ext>
            </a:extLst>
          </p:cNvPr>
          <p:cNvSpPr txBox="1"/>
          <p:nvPr/>
        </p:nvSpPr>
        <p:spPr>
          <a:xfrm>
            <a:off x="439603" y="2259624"/>
            <a:ext cx="688417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>
                <a:solidFill>
                  <a:srgbClr val="004750"/>
                </a:solidFill>
                <a:latin typeface="FNB Sans Regular" panose="02000000000000000000" pitchFamily="50" charset="0"/>
              </a:rPr>
              <a:t>Let's Meet</a:t>
            </a:r>
            <a:r>
              <a:rPr lang="en-US" sz="7200" b="1" baseline="0">
                <a:solidFill>
                  <a:srgbClr val="004750"/>
                </a:solidFill>
                <a:latin typeface="FNB Sans Regular" panose="02000000000000000000" pitchFamily="50" charset="0"/>
              </a:rPr>
              <a:t> </a:t>
            </a:r>
            <a:endParaRPr lang="en-US" sz="7200" b="1">
              <a:solidFill>
                <a:srgbClr val="004750"/>
              </a:solidFill>
              <a:latin typeface="FNB Sans Regular" panose="02000000000000000000" pitchFamily="50" charset="0"/>
              <a:cs typeface="Hadassah Friedlaender"/>
            </a:endParaRPr>
          </a:p>
          <a:p>
            <a:r>
              <a:rPr lang="en-US" sz="7200" b="1">
                <a:solidFill>
                  <a:srgbClr val="004750"/>
                </a:solidFill>
                <a:latin typeface="FNB Sans Regular" panose="02000000000000000000" pitchFamily="50" charset="0"/>
              </a:rPr>
              <a:t>Anil</a:t>
            </a:r>
            <a:endParaRPr lang="en-US" sz="7200" b="1">
              <a:solidFill>
                <a:srgbClr val="004750"/>
              </a:solidFill>
              <a:latin typeface="FNB Sans Regular" panose="02000000000000000000" pitchFamily="50" charset="0"/>
              <a:cs typeface="Hadassah Friedlaender"/>
            </a:endParaRPr>
          </a:p>
          <a:p>
            <a:pPr algn="ctr"/>
            <a:endParaRPr lang="en-US"/>
          </a:p>
        </p:txBody>
      </p:sp>
      <p:pic>
        <p:nvPicPr>
          <p:cNvPr id="3" name="Picture 2" descr="A person holding a tablet&#10;&#10;AI-generated content may be incorrect.">
            <a:extLst>
              <a:ext uri="{FF2B5EF4-FFF2-40B4-BE49-F238E27FC236}">
                <a16:creationId xmlns:a16="http://schemas.microsoft.com/office/drawing/2014/main" id="{D6111438-7961-60CE-3EF4-987D03990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66067" y="878619"/>
            <a:ext cx="7496577" cy="510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4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65433-E77D-76E4-ABF3-22B26E0B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42511-A19C-D735-35E9-934F5D9F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DCCBDA9-90FC-2A40-830F-3B66534910D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5" name="Picture 4" descr="A comic strip of a person on a phone&#10;&#10;AI-generated content may be incorrect.">
            <a:extLst>
              <a:ext uri="{FF2B5EF4-FFF2-40B4-BE49-F238E27FC236}">
                <a16:creationId xmlns:a16="http://schemas.microsoft.com/office/drawing/2014/main" id="{03122D56-3656-0678-55DC-2497181C8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7"/>
            <a:ext cx="12168645" cy="692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4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0E0CB126-C9DE-8BEA-AFFD-F4756576D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798" y="2790161"/>
            <a:ext cx="8064499" cy="777999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6600">
                <a:latin typeface="FNB Sans Regular"/>
              </a:rPr>
              <a:t>Problem Statement </a:t>
            </a:r>
          </a:p>
        </p:txBody>
      </p:sp>
      <p:sp>
        <p:nvSpPr>
          <p:cNvPr id="34" name="Subtitle 33">
            <a:extLst>
              <a:ext uri="{FF2B5EF4-FFF2-40B4-BE49-F238E27FC236}">
                <a16:creationId xmlns:a16="http://schemas.microsoft.com/office/drawing/2014/main" id="{28D3C87F-9C77-35AB-00D0-C8A7499B7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798" y="3639397"/>
            <a:ext cx="8064499" cy="50933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NB Sans Regular"/>
              </a:rPr>
              <a:t>Hidden Failure in Everyday Banking</a:t>
            </a:r>
            <a:endParaRPr lang="en-ZA" sz="2800">
              <a:solidFill>
                <a:schemeClr val="bg1"/>
              </a:solidFill>
              <a:latin typeface="FNB Sans Regular"/>
            </a:endParaRPr>
          </a:p>
        </p:txBody>
      </p:sp>
      <p:pic>
        <p:nvPicPr>
          <p:cNvPr id="7" name="Picture 6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50D0FBF9-D62E-412C-8134-BE982ED9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2413000"/>
            <a:ext cx="2032000" cy="2032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3F9126-AC17-85E1-1FC2-B07FE1C41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6440850"/>
            <a:ext cx="52959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8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7BCC135F-B454-AF25-A235-F24EFCC7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436A-CDAA-6E7D-12ED-729E10179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52" y="554944"/>
            <a:ext cx="11819579" cy="6025018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0" indent="0">
              <a:buNone/>
            </a:pPr>
            <a:endParaRPr lang="en-US" sz="2400" b="1">
              <a:latin typeface="FNB Sans Regular"/>
            </a:endParaRPr>
          </a:p>
          <a:p>
            <a:pPr marL="0" indent="0">
              <a:buNone/>
            </a:pPr>
            <a:r>
              <a:rPr lang="en-US" sz="2400" b="1">
                <a:latin typeface="FNB Sans Regular"/>
              </a:rPr>
              <a:t>Assumption:</a:t>
            </a:r>
            <a:r>
              <a:rPr lang="en-US" sz="2400">
                <a:latin typeface="FNB Sans Regular"/>
              </a:rPr>
              <a:t> </a:t>
            </a:r>
            <a:endParaRPr lang="en-US"/>
          </a:p>
          <a:p>
            <a:pPr marL="0" indent="0">
              <a:buNone/>
            </a:pPr>
            <a:r>
              <a:rPr lang="en-US" sz="2400">
                <a:latin typeface="FNB Sans Regular"/>
              </a:rPr>
              <a:t>Debit order failures = insufficient funds</a:t>
            </a:r>
            <a:endParaRPr lang="en-US"/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r>
              <a:rPr lang="en-US" sz="2400" b="1">
                <a:latin typeface="FNB Sans Regular"/>
              </a:rPr>
              <a:t>Reality:</a:t>
            </a:r>
            <a:r>
              <a:rPr lang="en-US" sz="2400">
                <a:latin typeface="FNB Sans Regular"/>
              </a:rPr>
              <a:t> </a:t>
            </a:r>
          </a:p>
          <a:p>
            <a:pPr marL="0" indent="0">
              <a:buNone/>
            </a:pPr>
            <a:r>
              <a:rPr lang="en-US" sz="2400">
                <a:latin typeface="FNB Sans Regular"/>
              </a:rPr>
              <a:t>Many failures are caused by structural timing frictions:</a:t>
            </a: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 sz="2400">
                <a:latin typeface="FNB Sans Regular"/>
              </a:rPr>
              <a:t>Settlement delays</a:t>
            </a:r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 sz="2400">
                <a:latin typeface="FNB Sans Regular"/>
              </a:rPr>
              <a:t>Cut-off times</a:t>
            </a:r>
          </a:p>
          <a:p>
            <a:pPr marL="0" indent="0">
              <a:buNone/>
            </a:pPr>
            <a:r>
              <a:rPr lang="en-US" sz="2400">
                <a:latin typeface="FNB Sans Regular"/>
              </a:rPr>
              <a:t>Customers may appear liquid ,  yet transactions fail.</a:t>
            </a: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r>
              <a:rPr lang="en-US" sz="2400" b="1">
                <a:latin typeface="FNB Sans Regular"/>
              </a:rPr>
              <a:t>Impact:</a:t>
            </a:r>
            <a:endParaRPr lang="en-US" sz="2400">
              <a:latin typeface="FNB Sans Regular"/>
            </a:endParaRPr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 sz="2400">
                <a:latin typeface="FNB Sans Regular"/>
              </a:rPr>
              <a:t>Penalty fees and </a:t>
            </a:r>
            <a:r>
              <a:rPr lang="en-US" sz="2400">
                <a:latin typeface="fnb sans regular"/>
              </a:rPr>
              <a:t>Service interruptions</a:t>
            </a:r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 sz="2400">
                <a:latin typeface="FNB Sans Regular"/>
              </a:rPr>
              <a:t>Trust erosion</a:t>
            </a:r>
          </a:p>
          <a:p>
            <a:pPr marL="0" indent="0">
              <a:buNone/>
            </a:pPr>
            <a:r>
              <a:rPr lang="en-US" sz="2400">
                <a:latin typeface="FNB Sans Regular"/>
              </a:rPr>
              <a:t>Essential obligations (insurance, loans) are disproportionately affected.</a:t>
            </a:r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F9025-90C0-C930-1459-A9B28AA768D7}"/>
              </a:ext>
            </a:extLst>
          </p:cNvPr>
          <p:cNvSpPr txBox="1"/>
          <p:nvPr/>
        </p:nvSpPr>
        <p:spPr>
          <a:xfrm>
            <a:off x="1992036" y="7139"/>
            <a:ext cx="10183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  <a:ea typeface="+mn-lt"/>
                <a:cs typeface="+mn-lt"/>
              </a:rPr>
              <a:t>The Hidden Cause of Debit Order Failures </a:t>
            </a:r>
            <a:r>
              <a:rPr lang="en-US" sz="3600">
                <a:latin typeface="fnb sans regular"/>
                <a:ea typeface="+mn-lt"/>
                <a:cs typeface="+mn-lt"/>
              </a:rPr>
              <a:t>​</a:t>
            </a:r>
            <a:endParaRPr lang="en-US" sz="3600">
              <a:latin typeface="fnb sans regular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9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5AD0-AAD8-F6B7-761E-E357722F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16DAF3-76E7-624B-757F-B44785932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65944"/>
              </p:ext>
            </p:extLst>
          </p:nvPr>
        </p:nvGraphicFramePr>
        <p:xfrm>
          <a:off x="1301222" y="1714500"/>
          <a:ext cx="9197867" cy="358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626">
                  <a:extLst>
                    <a:ext uri="{9D8B030D-6E8A-4147-A177-3AD203B41FA5}">
                      <a16:colId xmlns:a16="http://schemas.microsoft.com/office/drawing/2014/main" val="1989632638"/>
                    </a:ext>
                  </a:extLst>
                </a:gridCol>
                <a:gridCol w="3194312">
                  <a:extLst>
                    <a:ext uri="{9D8B030D-6E8A-4147-A177-3AD203B41FA5}">
                      <a16:colId xmlns:a16="http://schemas.microsoft.com/office/drawing/2014/main" val="49158305"/>
                    </a:ext>
                  </a:extLst>
                </a:gridCol>
                <a:gridCol w="3438929">
                  <a:extLst>
                    <a:ext uri="{9D8B030D-6E8A-4147-A177-3AD203B41FA5}">
                      <a16:colId xmlns:a16="http://schemas.microsoft.com/office/drawing/2014/main" val="1570039724"/>
                    </a:ext>
                  </a:extLst>
                </a:gridCol>
              </a:tblGrid>
              <a:tr h="75678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Segoe UI"/>
                          <a:cs typeface="Segoe UI"/>
                        </a:rPr>
                        <a:t>Risk Type</a:t>
                      </a:r>
                      <a:endParaRPr lang="en-US" sz="2000"/>
                    </a:p>
                  </a:txBody>
                  <a:tcPr anchor="ctr">
                    <a:solidFill>
                      <a:srgbClr val="0047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Segoe UI"/>
                          <a:cs typeface="Segoe UI"/>
                        </a:rPr>
                        <a:t>Description</a:t>
                      </a:r>
                      <a:endParaRPr lang="en-US" sz="2000"/>
                    </a:p>
                  </a:txBody>
                  <a:tcPr anchor="ctr">
                    <a:solidFill>
                      <a:srgbClr val="0047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latin typeface="Segoe UI"/>
                          <a:cs typeface="Segoe UI"/>
                        </a:rPr>
                        <a:t>Triggers / Outcomes</a:t>
                      </a:r>
                      <a:endParaRPr lang="en-US" sz="2000"/>
                    </a:p>
                  </a:txBody>
                  <a:tcPr anchor="ctr">
                    <a:solidFill>
                      <a:srgbClr val="0047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816118"/>
                  </a:ext>
                </a:extLst>
              </a:tr>
              <a:tr h="13416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Payment Orchestration Risk</a:t>
                      </a:r>
                      <a:endParaRPr lang="en-US"/>
                    </a:p>
                  </a:txBody>
                  <a:tcPr>
                    <a:solidFill>
                      <a:srgbClr val="B0E3E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0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Funds exist, but timing causes failure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solidFill>
                      <a:srgbClr val="B0E3E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27965" marR="0" lvl="0" indent="-227965" algn="l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v"/>
                      </a:pPr>
                      <a:endParaRPr lang="en-US" sz="1700" b="0" i="0" u="none" strike="noStrike" noProof="0">
                        <a:solidFill>
                          <a:srgbClr val="000000"/>
                        </a:solidFill>
                        <a:latin typeface="fnb sans regular"/>
                      </a:endParaRPr>
                    </a:p>
                    <a:p>
                      <a:pPr marL="227965" marR="0" lvl="0" indent="-227965" algn="l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v"/>
                      </a:pPr>
                      <a:endParaRPr lang="en-US" sz="1700" b="0" i="0" u="none" strike="noStrike" noProof="0">
                        <a:solidFill>
                          <a:srgbClr val="000000"/>
                        </a:solidFill>
                        <a:latin typeface="fnb sans regular"/>
                      </a:endParaRPr>
                    </a:p>
                    <a:p>
                      <a:pPr marL="227965" marR="0" lvl="0" indent="-227965" algn="l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v"/>
                      </a:pPr>
                      <a:r>
                        <a:rPr lang="en-US" sz="1700" b="0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Low-balance alerts</a:t>
                      </a:r>
                    </a:p>
                    <a:p>
                      <a:pPr marL="227965" marR="0" lvl="0" indent="-227965" algn="l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v"/>
                      </a:pPr>
                      <a:r>
                        <a:rPr lang="en-US" sz="1700" b="0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Generic credit visibility</a:t>
                      </a:r>
                    </a:p>
                    <a:p>
                      <a:pPr marL="227965" marR="0" lvl="0" indent="-227965" algn="l">
                        <a:lnSpc>
                          <a:spcPct val="90000"/>
                        </a:lnSpc>
                        <a:spcBef>
                          <a:spcPts val="998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v"/>
                      </a:pPr>
                      <a:r>
                        <a:rPr lang="en-US" sz="1700" b="0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Post-failure explanations</a:t>
                      </a:r>
                      <a:endParaRPr lang="en-US"/>
                    </a:p>
                  </a:txBody>
                  <a:tcPr>
                    <a:solidFill>
                      <a:srgbClr val="B0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220806"/>
                  </a:ext>
                </a:extLst>
              </a:tr>
              <a:tr h="14841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1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Short-Duration Liquidity Risk</a:t>
                      </a:r>
                      <a:endParaRPr lang="en-US"/>
                    </a:p>
                  </a:txBody>
                  <a:tcPr>
                    <a:solidFill>
                      <a:srgbClr val="B0E3E4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700" b="0" i="0" u="none" strike="noStrike" noProof="0">
                          <a:solidFill>
                            <a:srgbClr val="000000"/>
                          </a:solidFill>
                          <a:latin typeface="fnb sans regular"/>
                        </a:rPr>
                        <a:t>Funds genuinely unavailable within a narrow window</a:t>
                      </a:r>
                      <a:endParaRPr lang="en-US"/>
                    </a:p>
                  </a:txBody>
                  <a:tcPr>
                    <a:solidFill>
                      <a:srgbClr val="B0E3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36193"/>
                  </a:ext>
                </a:extLst>
              </a:tr>
            </a:tbl>
          </a:graphicData>
        </a:graphic>
      </p:graphicFrame>
      <p:sp>
        <p:nvSpPr>
          <p:cNvPr id="10" name="Slide Number Placeholder 31">
            <a:extLst>
              <a:ext uri="{FF2B5EF4-FFF2-40B4-BE49-F238E27FC236}">
                <a16:creationId xmlns:a16="http://schemas.microsoft.com/office/drawing/2014/main" id="{11405011-2521-59DB-AA3B-023E6C04B444}"/>
              </a:ext>
            </a:extLst>
          </p:cNvPr>
          <p:cNvSpPr txBox="1">
            <a:spLocks/>
          </p:cNvSpPr>
          <p:nvPr/>
        </p:nvSpPr>
        <p:spPr>
          <a:xfrm>
            <a:off x="10880725" y="6560400"/>
            <a:ext cx="75565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CCBDA9-90FC-2A40-830F-3B66534910D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B05FEA-A8E2-1744-9960-2DCC17972E9E}"/>
              </a:ext>
            </a:extLst>
          </p:cNvPr>
          <p:cNvSpPr txBox="1">
            <a:spLocks/>
          </p:cNvSpPr>
          <p:nvPr/>
        </p:nvSpPr>
        <p:spPr>
          <a:xfrm>
            <a:off x="2384514" y="780226"/>
            <a:ext cx="7388390" cy="60016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143" indent="-228143" algn="l" defTabSz="912571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1pPr>
            <a:lvl2pPr marL="684428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2pPr>
            <a:lvl3pPr marL="1140714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3pPr>
            <a:lvl4pPr marL="1597000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4pPr>
            <a:lvl5pPr marL="2053285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5pPr>
            <a:lvl6pPr marL="2509571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5856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2142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8428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>
              <a:buNone/>
            </a:pPr>
            <a:r>
              <a:rPr lang="en-US" sz="2400">
                <a:latin typeface="FNB Sans Regular"/>
              </a:rPr>
              <a:t>Today, two very different scenarios are treated the same: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CE257F-2975-CB2A-A803-F207E5F28716}"/>
              </a:ext>
            </a:extLst>
          </p:cNvPr>
          <p:cNvSpPr txBox="1"/>
          <p:nvPr/>
        </p:nvSpPr>
        <p:spPr>
          <a:xfrm>
            <a:off x="2869410" y="7139"/>
            <a:ext cx="6429291" cy="952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  <a:ea typeface="+mn-lt"/>
                <a:cs typeface="+mn-lt"/>
              </a:rPr>
              <a:t>Two Risks, One Blunt Response </a:t>
            </a:r>
            <a:r>
              <a:rPr lang="en-US" sz="3600">
                <a:latin typeface="fnb sans regular"/>
                <a:ea typeface="+mn-lt"/>
                <a:cs typeface="+mn-lt"/>
              </a:rPr>
              <a:t>​</a:t>
            </a:r>
            <a:endParaRPr lang="en-US" sz="3600">
              <a:latin typeface="fnb sans regular"/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0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528A36-E6EE-7EE7-DA99-7833FB053D78}"/>
              </a:ext>
            </a:extLst>
          </p:cNvPr>
          <p:cNvSpPr/>
          <p:nvPr/>
        </p:nvSpPr>
        <p:spPr>
          <a:xfrm>
            <a:off x="-1125897" y="2426143"/>
            <a:ext cx="3914885" cy="2328697"/>
          </a:xfrm>
          <a:prstGeom prst="rect">
            <a:avLst/>
          </a:prstGeom>
          <a:solidFill>
            <a:srgbClr val="00A9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7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284725-4D09-203B-C82E-377B21A7D44E}"/>
              </a:ext>
            </a:extLst>
          </p:cNvPr>
          <p:cNvSpPr/>
          <p:nvPr/>
        </p:nvSpPr>
        <p:spPr>
          <a:xfrm>
            <a:off x="4610184" y="1037187"/>
            <a:ext cx="2741621" cy="44163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00AF5C-374A-D3C9-356A-55DB5957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DCCBDA9-90FC-2A40-830F-3B66534910D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24D5A-36AE-215D-2D35-BA214BAB418D}"/>
              </a:ext>
            </a:extLst>
          </p:cNvPr>
          <p:cNvSpPr txBox="1"/>
          <p:nvPr/>
        </p:nvSpPr>
        <p:spPr>
          <a:xfrm>
            <a:off x="4141463" y="4497"/>
            <a:ext cx="36730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</a:rPr>
              <a:t>The Missing Layer</a:t>
            </a:r>
            <a:endParaRPr lang="en-US">
              <a:latin typeface="fnb sans regular"/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CB285-22E3-97FB-8E42-22FF4F83881C}"/>
              </a:ext>
            </a:extLst>
          </p:cNvPr>
          <p:cNvSpPr txBox="1"/>
          <p:nvPr/>
        </p:nvSpPr>
        <p:spPr>
          <a:xfrm>
            <a:off x="170990" y="2564565"/>
            <a:ext cx="24947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FNB Sans Regular" panose="02000000000000000000" pitchFamily="50" charset="0"/>
                <a:ea typeface="Calibri"/>
                <a:cs typeface="Calibri"/>
              </a:rPr>
              <a:t>Predictive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E8B0A-A471-0725-7E40-3E17BA92FC08}"/>
              </a:ext>
            </a:extLst>
          </p:cNvPr>
          <p:cNvSpPr txBox="1"/>
          <p:nvPr/>
        </p:nvSpPr>
        <p:spPr>
          <a:xfrm>
            <a:off x="5306160" y="1174979"/>
            <a:ext cx="19143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FNB Sans Regular" panose="02000000000000000000" pitchFamily="50" charset="0"/>
                <a:ea typeface="Calibri"/>
                <a:cs typeface="Calibri"/>
              </a:rPr>
              <a:t>The Gap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49E3BC-D665-5243-6AE4-3B0AD94F7FE0}"/>
              </a:ext>
            </a:extLst>
          </p:cNvPr>
          <p:cNvSpPr/>
          <p:nvPr/>
        </p:nvSpPr>
        <p:spPr>
          <a:xfrm>
            <a:off x="9387038" y="2483214"/>
            <a:ext cx="4483743" cy="2328697"/>
          </a:xfrm>
          <a:prstGeom prst="rect">
            <a:avLst/>
          </a:prstGeom>
          <a:solidFill>
            <a:srgbClr val="B0E3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3E477-AEA7-4C41-F219-2B435BB293B9}"/>
              </a:ext>
            </a:extLst>
          </p:cNvPr>
          <p:cNvSpPr txBox="1"/>
          <p:nvPr/>
        </p:nvSpPr>
        <p:spPr>
          <a:xfrm>
            <a:off x="9631269" y="2594356"/>
            <a:ext cx="3119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004750"/>
                </a:solidFill>
                <a:latin typeface="FNB Sans Regular" panose="02000000000000000000" pitchFamily="50" charset="0"/>
                <a:ea typeface="Calibri"/>
                <a:cs typeface="Calibri"/>
              </a:rPr>
              <a:t>Credit Infrastructure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5A329-122A-FDBC-3A95-38CA5F013EAD}"/>
              </a:ext>
            </a:extLst>
          </p:cNvPr>
          <p:cNvSpPr txBox="1"/>
          <p:nvPr/>
        </p:nvSpPr>
        <p:spPr>
          <a:xfrm>
            <a:off x="-128585" y="3630019"/>
            <a:ext cx="20872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5417E-571E-1FA6-E59D-9B8B59659B6D}"/>
              </a:ext>
            </a:extLst>
          </p:cNvPr>
          <p:cNvSpPr txBox="1"/>
          <p:nvPr/>
        </p:nvSpPr>
        <p:spPr>
          <a:xfrm>
            <a:off x="48820" y="3168105"/>
            <a:ext cx="274519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Nav»Money</a:t>
            </a:r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Cashflow forecasting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Shortfall alerts</a:t>
            </a:r>
          </a:p>
          <a:p>
            <a:pPr algn="l"/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29A02-0770-1236-598A-6CA6DB95EC07}"/>
              </a:ext>
            </a:extLst>
          </p:cNvPr>
          <p:cNvSpPr txBox="1"/>
          <p:nvPr/>
        </p:nvSpPr>
        <p:spPr>
          <a:xfrm>
            <a:off x="4606287" y="1782465"/>
            <a:ext cx="274942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There is no integrated layer that:</a:t>
            </a:r>
          </a:p>
          <a:p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 Interprets shortfall context</a:t>
            </a:r>
            <a:endParaRPr lang="en-US" sz="1600">
              <a:solidFill>
                <a:srgbClr val="FFFFFF"/>
              </a:solidFill>
              <a:latin typeface="FNB Sans Regular" panose="02000000000000000000" pitchFamily="50" charset="0"/>
            </a:endParaRPr>
          </a:p>
          <a:p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 Differentiates timing vs liquidity risk</a:t>
            </a:r>
            <a:endParaRPr lang="en-US" sz="1600">
              <a:solidFill>
                <a:srgbClr val="FFFFFF"/>
              </a:solidFill>
              <a:latin typeface="FNB Sans Regular" panose="02000000000000000000" pitchFamily="50" charset="0"/>
            </a:endParaRPr>
          </a:p>
          <a:p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 Matches risk type to proportionate action</a:t>
            </a:r>
            <a:endParaRPr lang="en-US" sz="1600">
              <a:solidFill>
                <a:srgbClr val="FFFFFF"/>
              </a:solidFill>
              <a:latin typeface="FNB Sans Regular" panose="02000000000000000000" pitchFamily="50" charset="0"/>
            </a:endParaRPr>
          </a:p>
          <a:p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FNB Sans Regular" panose="02000000000000000000" pitchFamily="50" charset="0"/>
                <a:ea typeface="+mn-lt"/>
                <a:cs typeface="+mn-lt"/>
              </a:rPr>
              <a:t> Provides pre-failure clarity</a:t>
            </a:r>
            <a:endParaRPr lang="en-US" sz="1600">
              <a:solidFill>
                <a:srgbClr val="FFFFFF"/>
              </a:solidFill>
              <a:latin typeface="FNB Sans Regular" panose="02000000000000000000" pitchFamily="50" charset="0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Calibri"/>
              <a:cs typeface="Calibri"/>
            </a:endParaRPr>
          </a:p>
          <a:p>
            <a:pPr algn="l"/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BAF77-5C7D-A910-1267-86486C0C1F92}"/>
              </a:ext>
            </a:extLst>
          </p:cNvPr>
          <p:cNvSpPr txBox="1"/>
          <p:nvPr/>
        </p:nvSpPr>
        <p:spPr>
          <a:xfrm>
            <a:off x="9919456" y="3145225"/>
            <a:ext cx="315405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004750"/>
                </a:solidFill>
                <a:latin typeface="FNB Sans Regular" panose="02000000000000000000" pitchFamily="50" charset="0"/>
                <a:ea typeface="+mn-lt"/>
                <a:cs typeface="+mn-lt"/>
              </a:rPr>
              <a:t>Overdrafts</a:t>
            </a:r>
            <a:endParaRPr lang="en-US" sz="1600">
              <a:solidFill>
                <a:srgbClr val="004750"/>
              </a:solidFill>
              <a:latin typeface="FNB Sans Regular" panose="02000000000000000000" pitchFamily="50" charset="0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4750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004750"/>
                </a:solidFill>
                <a:latin typeface="FNB Sans Regular" panose="02000000000000000000" pitchFamily="50" charset="0"/>
                <a:ea typeface="+mn-lt"/>
                <a:cs typeface="+mn-lt"/>
              </a:rPr>
              <a:t>Temporary facilities</a:t>
            </a:r>
            <a:endParaRPr lang="en-US" sz="1600">
              <a:solidFill>
                <a:srgbClr val="004750"/>
              </a:solidFill>
              <a:latin typeface="FNB Sans Regular" panose="02000000000000000000" pitchFamily="50" charset="0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4750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004750"/>
                </a:solidFill>
                <a:latin typeface="FNB Sans Regular" panose="02000000000000000000" pitchFamily="50" charset="0"/>
                <a:ea typeface="+mn-lt"/>
                <a:cs typeface="+mn-lt"/>
              </a:rPr>
              <a:t>Loan products</a:t>
            </a:r>
            <a:endParaRPr lang="en-US" sz="1600">
              <a:solidFill>
                <a:srgbClr val="004750"/>
              </a:solidFill>
              <a:latin typeface="FNB Sans Regular" panose="02000000000000000000" pitchFamily="50" charset="0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+mn-lt"/>
              <a:cs typeface="+mn-lt"/>
            </a:endParaRPr>
          </a:p>
          <a:p>
            <a:pPr algn="l"/>
            <a:endParaRPr lang="en-US" sz="1600">
              <a:solidFill>
                <a:srgbClr val="FFFFFF"/>
              </a:solidFill>
              <a:latin typeface="FNB Sans Regular" panose="02000000000000000000" pitchFamily="50" charset="0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A9B009-FD23-55F3-5F3C-8BB669986BAC}"/>
              </a:ext>
            </a:extLst>
          </p:cNvPr>
          <p:cNvCxnSpPr/>
          <p:nvPr/>
        </p:nvCxnSpPr>
        <p:spPr>
          <a:xfrm flipV="1">
            <a:off x="44822" y="3065455"/>
            <a:ext cx="2747798" cy="666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1727E0-7882-9C58-6EE0-0B8364846209}"/>
              </a:ext>
            </a:extLst>
          </p:cNvPr>
          <p:cNvCxnSpPr>
            <a:cxnSpLocks/>
          </p:cNvCxnSpPr>
          <p:nvPr/>
        </p:nvCxnSpPr>
        <p:spPr>
          <a:xfrm flipV="1">
            <a:off x="9391220" y="3086992"/>
            <a:ext cx="2747798" cy="666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7F2F31-80BA-853A-EDB5-0E3EA9B28F79}"/>
              </a:ext>
            </a:extLst>
          </p:cNvPr>
          <p:cNvCxnSpPr>
            <a:cxnSpLocks/>
          </p:cNvCxnSpPr>
          <p:nvPr/>
        </p:nvCxnSpPr>
        <p:spPr>
          <a:xfrm flipV="1">
            <a:off x="4608375" y="1632081"/>
            <a:ext cx="2747798" cy="666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88CDB4-7CC7-1F6E-DBDB-66D8FF3903EE}"/>
              </a:ext>
            </a:extLst>
          </p:cNvPr>
          <p:cNvSpPr txBox="1"/>
          <p:nvPr/>
        </p:nvSpPr>
        <p:spPr>
          <a:xfrm>
            <a:off x="3802120" y="5624397"/>
            <a:ext cx="43544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Prediction exists. Credit exists.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Contextual decision intelligence does not.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8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FD2D-DDA7-28F1-8A36-1304E132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D4AD7996-6047-30B9-831D-DD9E880D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9</a:t>
            </a:fld>
            <a:endParaRPr lang="en-US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72E56929-D731-8E2A-F674-F69DF2497AFF}"/>
              </a:ext>
            </a:extLst>
          </p:cNvPr>
          <p:cNvSpPr txBox="1">
            <a:spLocks/>
          </p:cNvSpPr>
          <p:nvPr/>
        </p:nvSpPr>
        <p:spPr>
          <a:xfrm>
            <a:off x="1141411" y="3431729"/>
            <a:ext cx="8064499" cy="7779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chemeClr val="bg1"/>
                </a:solidFill>
                <a:latin typeface="FNB Sans Regular"/>
              </a:rPr>
              <a:t>Research </a:t>
            </a:r>
            <a:br>
              <a:rPr lang="en-US" sz="6600">
                <a:solidFill>
                  <a:schemeClr val="bg1"/>
                </a:solidFill>
                <a:latin typeface="FNB Sans Regular"/>
              </a:rPr>
            </a:br>
            <a:r>
              <a:rPr lang="en-US" sz="6600">
                <a:solidFill>
                  <a:schemeClr val="bg1"/>
                </a:solidFill>
                <a:latin typeface="FNB Sans Regular"/>
              </a:rPr>
              <a:t>and Findings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8546395F-C78D-3C4D-7729-CE0CFD0C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2413000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5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E340A-33EA-806F-27F9-AD33E50F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10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28E0184-874B-E9BA-CB43-605E6B6C3012}"/>
              </a:ext>
            </a:extLst>
          </p:cNvPr>
          <p:cNvSpPr txBox="1">
            <a:spLocks/>
          </p:cNvSpPr>
          <p:nvPr/>
        </p:nvSpPr>
        <p:spPr>
          <a:xfrm>
            <a:off x="900113" y="1519612"/>
            <a:ext cx="9575800" cy="33163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143" indent="-228143" algn="l" defTabSz="912571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1pPr>
            <a:lvl2pPr marL="684428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2pPr>
            <a:lvl3pPr marL="1140714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3pPr>
            <a:lvl4pPr marL="1597000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4pPr>
            <a:lvl5pPr marL="2053285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5pPr>
            <a:lvl6pPr marL="2509571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5856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2142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8428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 algn="just">
              <a:buFont typeface="Wingdings" panose="020B0604020202020204" pitchFamily="34" charset="0"/>
              <a:buChar char="v"/>
            </a:pPr>
            <a:r>
              <a:rPr lang="en-ZA">
                <a:latin typeface="FNB Sans Regular"/>
              </a:rPr>
              <a:t> To better understand customers’ sentiment around debit order interactions, and quantify how these experiences influence overall satisfaction, we conducted a survey that captured 29 responses from non-FNB channels.</a:t>
            </a:r>
            <a:endParaRPr lang="en-US">
              <a:latin typeface="FNB Sans Regular"/>
            </a:endParaRPr>
          </a:p>
          <a:p>
            <a:pPr marL="227965" indent="-227965" algn="just">
              <a:buFont typeface="Wingdings" panose="020B0604020202020204" pitchFamily="34" charset="0"/>
              <a:buChar char="v"/>
            </a:pPr>
            <a:r>
              <a:rPr lang="en-ZA">
                <a:latin typeface="FNB Sans Regular"/>
              </a:rPr>
              <a:t> The purpose of the survey was to validate whether the challenges we’ve identified have a meaningful effect on customers and to gain insight into where pain points and opportunities for improvement truly lie.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7FF9B-51BA-D39C-F475-7EB90C0C87AC}"/>
              </a:ext>
            </a:extLst>
          </p:cNvPr>
          <p:cNvSpPr txBox="1"/>
          <p:nvPr/>
        </p:nvSpPr>
        <p:spPr>
          <a:xfrm>
            <a:off x="1429345" y="137671"/>
            <a:ext cx="90378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  <a:ea typeface="+mn-lt"/>
                <a:cs typeface="+mn-lt"/>
              </a:rPr>
              <a:t>QUANTIFYING THE PROBLEM AND ITS IMPACT</a:t>
            </a:r>
          </a:p>
        </p:txBody>
      </p:sp>
    </p:spTree>
    <p:extLst>
      <p:ext uri="{BB962C8B-B14F-4D97-AF65-F5344CB8AC3E}">
        <p14:creationId xmlns:p14="http://schemas.microsoft.com/office/powerpoint/2010/main" val="189736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D9A6-6739-5B21-A660-D476BC8A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066F7833-FC61-3167-5EF0-4A342EDF1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  <p:pic>
        <p:nvPicPr>
          <p:cNvPr id="6" name="Picture 5" descr="A graph of a bar chart&#10;&#10;AI-generated content may be incorrect.">
            <a:extLst>
              <a:ext uri="{FF2B5EF4-FFF2-40B4-BE49-F238E27FC236}">
                <a16:creationId xmlns:a16="http://schemas.microsoft.com/office/drawing/2014/main" id="{C2E247D0-E6E3-DF91-9CDA-E5FA46712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93" r="-106" b="-162"/>
          <a:stretch>
            <a:fillRect/>
          </a:stretch>
        </p:blipFill>
        <p:spPr>
          <a:xfrm>
            <a:off x="665373" y="1003711"/>
            <a:ext cx="10313546" cy="57769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33FB76B-77A0-9B58-6A6E-37CBF993B2A0}"/>
              </a:ext>
            </a:extLst>
          </p:cNvPr>
          <p:cNvSpPr txBox="1">
            <a:spLocks/>
          </p:cNvSpPr>
          <p:nvPr/>
        </p:nvSpPr>
        <p:spPr>
          <a:xfrm>
            <a:off x="752108" y="1208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Prevalence of Debit order Failures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77F3AF-AFAE-3930-CA92-17C2F688F1DC}"/>
              </a:ext>
            </a:extLst>
          </p:cNvPr>
          <p:cNvSpPr/>
          <p:nvPr/>
        </p:nvSpPr>
        <p:spPr>
          <a:xfrm>
            <a:off x="181084" y="651590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13A1D-4AB8-39A9-9724-195D1EFF1C4A}"/>
              </a:ext>
            </a:extLst>
          </p:cNvPr>
          <p:cNvSpPr/>
          <p:nvPr/>
        </p:nvSpPr>
        <p:spPr>
          <a:xfrm>
            <a:off x="2349291" y="777175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132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7EC2-BD1C-775A-8A0F-7F69C08F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D49113C4-973E-1D0B-511B-4E0E75B2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  <p:pic>
        <p:nvPicPr>
          <p:cNvPr id="2" name="Picture 1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DA2B18B-CDAC-0E3A-6A9E-45BFE59FE3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/>
          <a:stretch>
            <a:fillRect/>
          </a:stretch>
        </p:blipFill>
        <p:spPr>
          <a:xfrm>
            <a:off x="177860" y="1764329"/>
            <a:ext cx="10722192" cy="332448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367361-8719-BAF5-CA06-5ECEE6B67CB9}"/>
              </a:ext>
            </a:extLst>
          </p:cNvPr>
          <p:cNvSpPr txBox="1">
            <a:spLocks/>
          </p:cNvSpPr>
          <p:nvPr/>
        </p:nvSpPr>
        <p:spPr>
          <a:xfrm>
            <a:off x="874028" y="38902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Timing Issues and Visibility Gap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D66AE-136B-2DA5-F9CD-5A17F26B4AA0}"/>
              </a:ext>
            </a:extLst>
          </p:cNvPr>
          <p:cNvSpPr/>
          <p:nvPr/>
        </p:nvSpPr>
        <p:spPr>
          <a:xfrm>
            <a:off x="181084" y="651590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CC040C-CE30-DB1F-D2D4-097EE8385DEE}"/>
              </a:ext>
            </a:extLst>
          </p:cNvPr>
          <p:cNvSpPr/>
          <p:nvPr/>
        </p:nvSpPr>
        <p:spPr>
          <a:xfrm>
            <a:off x="2349291" y="777175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845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5E9A-8FC9-49F3-2FA5-49D29095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041E250B-C7DC-D6B5-F570-025C369B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  <p:pic>
        <p:nvPicPr>
          <p:cNvPr id="5" name="Picture 4" descr="A graph with colored bars&#10;&#10;AI-generated content may be incorrect.">
            <a:extLst>
              <a:ext uri="{FF2B5EF4-FFF2-40B4-BE49-F238E27FC236}">
                <a16:creationId xmlns:a16="http://schemas.microsoft.com/office/drawing/2014/main" id="{8B352DF3-5015-A062-AEC4-4427FFB47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94" b="-202"/>
          <a:stretch>
            <a:fillRect/>
          </a:stretch>
        </p:blipFill>
        <p:spPr>
          <a:xfrm>
            <a:off x="38392" y="1084695"/>
            <a:ext cx="10881320" cy="441641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CA7E22F-2732-6687-DA6B-0F4F01849B73}"/>
              </a:ext>
            </a:extLst>
          </p:cNvPr>
          <p:cNvSpPr txBox="1">
            <a:spLocks/>
          </p:cNvSpPr>
          <p:nvPr/>
        </p:nvSpPr>
        <p:spPr>
          <a:xfrm>
            <a:off x="619338" y="38902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Consequences of Debit Order Failures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56EE4-A0B4-F1FC-035C-306E3439176B}"/>
              </a:ext>
            </a:extLst>
          </p:cNvPr>
          <p:cNvSpPr/>
          <p:nvPr/>
        </p:nvSpPr>
        <p:spPr>
          <a:xfrm>
            <a:off x="181084" y="651590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C9153-D282-5379-73E3-AB311E28E509}"/>
              </a:ext>
            </a:extLst>
          </p:cNvPr>
          <p:cNvSpPr/>
          <p:nvPr/>
        </p:nvSpPr>
        <p:spPr>
          <a:xfrm>
            <a:off x="2349291" y="777175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47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C5E5-5D63-A512-D64C-7D2F3924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5658625C-9C63-51B9-2886-CC128047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  <p:pic>
        <p:nvPicPr>
          <p:cNvPr id="4" name="Picture 3" descr="A bar chart with text&#10;&#10;AI-generated content may be incorrect.">
            <a:extLst>
              <a:ext uri="{FF2B5EF4-FFF2-40B4-BE49-F238E27FC236}">
                <a16:creationId xmlns:a16="http://schemas.microsoft.com/office/drawing/2014/main" id="{D99A298F-5423-7CBF-EB30-E9C4E6B15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" t="16973" r="-92" b="-182"/>
          <a:stretch>
            <a:fillRect/>
          </a:stretch>
        </p:blipFill>
        <p:spPr>
          <a:xfrm>
            <a:off x="2154" y="1122081"/>
            <a:ext cx="10987774" cy="45969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20A43F3-6007-5EC2-DBE9-2A90FDE2D76F}"/>
              </a:ext>
            </a:extLst>
          </p:cNvPr>
          <p:cNvSpPr txBox="1">
            <a:spLocks/>
          </p:cNvSpPr>
          <p:nvPr/>
        </p:nvSpPr>
        <p:spPr>
          <a:xfrm>
            <a:off x="183148" y="18436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Categories of Debit Order Most Likely to Fail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C8F57-3888-86CA-D4D0-440B9DE74175}"/>
              </a:ext>
            </a:extLst>
          </p:cNvPr>
          <p:cNvSpPr/>
          <p:nvPr/>
        </p:nvSpPr>
        <p:spPr>
          <a:xfrm>
            <a:off x="181084" y="651590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80AC46-F20F-38E5-C42D-B70C813DEFEF}"/>
              </a:ext>
            </a:extLst>
          </p:cNvPr>
          <p:cNvSpPr/>
          <p:nvPr/>
        </p:nvSpPr>
        <p:spPr>
          <a:xfrm>
            <a:off x="2349291" y="777175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093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A90F-3856-1AE3-6A3D-0844AAB3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03454208-959B-0520-B774-04E30D56F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  <p:pic>
        <p:nvPicPr>
          <p:cNvPr id="9" name="Picture 8" descr="A graph of a person with a bar&#10;&#10;AI-generated content may be incorrect.">
            <a:extLst>
              <a:ext uri="{FF2B5EF4-FFF2-40B4-BE49-F238E27FC236}">
                <a16:creationId xmlns:a16="http://schemas.microsoft.com/office/drawing/2014/main" id="{2698D19B-7A85-1402-70B2-14F169572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13212" r="-21" b="-259"/>
          <a:stretch>
            <a:fillRect/>
          </a:stretch>
        </p:blipFill>
        <p:spPr>
          <a:xfrm>
            <a:off x="-20096" y="1459675"/>
            <a:ext cx="10982357" cy="33760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8C7EE0-B83E-5FC3-4849-1745D22A8BCA}"/>
              </a:ext>
            </a:extLst>
          </p:cNvPr>
          <p:cNvSpPr txBox="1">
            <a:spLocks/>
          </p:cNvSpPr>
          <p:nvPr/>
        </p:nvSpPr>
        <p:spPr>
          <a:xfrm>
            <a:off x="183148" y="18436"/>
            <a:ext cx="5669012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000" b="1">
                <a:latin typeface="FNB Sans Regular"/>
              </a:rPr>
              <a:t>Satisfaction with Bank When Debit Orders Fail</a:t>
            </a:r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EDED9-1785-DE9F-446D-E958B600A552}"/>
              </a:ext>
            </a:extLst>
          </p:cNvPr>
          <p:cNvSpPr/>
          <p:nvPr/>
        </p:nvSpPr>
        <p:spPr>
          <a:xfrm>
            <a:off x="181084" y="651590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32849-3E1C-9787-9726-24857D2504EF}"/>
              </a:ext>
            </a:extLst>
          </p:cNvPr>
          <p:cNvSpPr/>
          <p:nvPr/>
        </p:nvSpPr>
        <p:spPr>
          <a:xfrm>
            <a:off x="2349291" y="777175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178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66E2-55CC-7BA2-6194-F207391C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" descr="Logo, icon&#10;&#10;Description automatically generated">
            <a:extLst>
              <a:ext uri="{FF2B5EF4-FFF2-40B4-BE49-F238E27FC236}">
                <a16:creationId xmlns:a16="http://schemas.microsoft.com/office/drawing/2014/main" id="{16B0495F-968C-7197-3BEA-F336F549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049588"/>
            <a:ext cx="758825" cy="758825"/>
          </a:xfrm>
          <a:prstGeom prst="rect">
            <a:avLst/>
          </a:prstGeom>
        </p:spPr>
      </p:pic>
      <p:pic>
        <p:nvPicPr>
          <p:cNvPr id="2" name="Picture 1" descr="A pie chart with text below&#10;&#10;AI-generated content may be incorrect.">
            <a:extLst>
              <a:ext uri="{FF2B5EF4-FFF2-40B4-BE49-F238E27FC236}">
                <a16:creationId xmlns:a16="http://schemas.microsoft.com/office/drawing/2014/main" id="{96E837DE-CD54-AD08-7A8D-2AA82BF542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2" r="140" b="-50"/>
          <a:stretch>
            <a:fillRect/>
          </a:stretch>
        </p:blipFill>
        <p:spPr>
          <a:xfrm>
            <a:off x="2053267" y="903951"/>
            <a:ext cx="7867254" cy="530552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6D5B574-3182-9541-3F25-10AB8EF09DFE}"/>
              </a:ext>
            </a:extLst>
          </p:cNvPr>
          <p:cNvSpPr txBox="1">
            <a:spLocks/>
          </p:cNvSpPr>
          <p:nvPr/>
        </p:nvSpPr>
        <p:spPr>
          <a:xfrm>
            <a:off x="183148" y="-1645"/>
            <a:ext cx="6278647" cy="64954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Demand for a Predictive Debit Order Service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AB87CF-C0EB-714A-F881-3E4C803E72C5}"/>
              </a:ext>
            </a:extLst>
          </p:cNvPr>
          <p:cNvSpPr/>
          <p:nvPr/>
        </p:nvSpPr>
        <p:spPr>
          <a:xfrm>
            <a:off x="181084" y="651590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F0E1FF-D2CA-9CC4-0F31-493D01EBD35C}"/>
              </a:ext>
            </a:extLst>
          </p:cNvPr>
          <p:cNvSpPr/>
          <p:nvPr/>
        </p:nvSpPr>
        <p:spPr>
          <a:xfrm>
            <a:off x="2349291" y="777175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279160-449E-9BAD-7069-5FAD9A0638DF}"/>
              </a:ext>
            </a:extLst>
          </p:cNvPr>
          <p:cNvSpPr/>
          <p:nvPr/>
        </p:nvSpPr>
        <p:spPr>
          <a:xfrm>
            <a:off x="2053267" y="5852160"/>
            <a:ext cx="7867254" cy="354249"/>
          </a:xfrm>
          <a:prstGeom prst="roundRect">
            <a:avLst/>
          </a:prstGeom>
          <a:solidFill>
            <a:srgbClr val="00A9AC"/>
          </a:solidFill>
          <a:ln>
            <a:solidFill>
              <a:srgbClr val="00A9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INSIGHT: 86%of respondents want predictive debit order failure alerts – a clear product opportunity</a:t>
            </a:r>
          </a:p>
        </p:txBody>
      </p:sp>
    </p:spTree>
    <p:extLst>
      <p:ext uri="{BB962C8B-B14F-4D97-AF65-F5344CB8AC3E}">
        <p14:creationId xmlns:p14="http://schemas.microsoft.com/office/powerpoint/2010/main" val="2518615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AC92B-2FD8-85F3-2A51-C016917C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E47A4301-B3BE-FE54-6A49-28F033AEF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798" y="2790161"/>
            <a:ext cx="8064499" cy="777999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6600">
                <a:latin typeface="FNB Sans Regular"/>
              </a:rPr>
              <a:t>Solution</a:t>
            </a:r>
            <a:endParaRPr lang="en-US"/>
          </a:p>
        </p:txBody>
      </p:sp>
      <p:sp>
        <p:nvSpPr>
          <p:cNvPr id="34" name="Subtitle 33">
            <a:extLst>
              <a:ext uri="{FF2B5EF4-FFF2-40B4-BE49-F238E27FC236}">
                <a16:creationId xmlns:a16="http://schemas.microsoft.com/office/drawing/2014/main" id="{BA322A91-8E5E-BD2F-6332-52638954B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798" y="3639397"/>
            <a:ext cx="8064499" cy="50933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NB Sans Regular"/>
              </a:rPr>
              <a:t>Introducing </a:t>
            </a:r>
            <a:r>
              <a:rPr lang="en-US" sz="2800">
                <a:solidFill>
                  <a:srgbClr val="B0E3E4"/>
                </a:solidFill>
                <a:latin typeface="FNB Sans Regular"/>
              </a:rPr>
              <a:t>PaySure</a:t>
            </a:r>
            <a:endParaRPr lang="en-US">
              <a:solidFill>
                <a:srgbClr val="B0E3E4"/>
              </a:solidFill>
            </a:endParaRPr>
          </a:p>
        </p:txBody>
      </p:sp>
      <p:pic>
        <p:nvPicPr>
          <p:cNvPr id="7" name="Picture 6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8CBF0F2E-4511-259B-E0B0-5062AD427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2413000"/>
            <a:ext cx="2032000" cy="2032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1B15E8D-DCC5-A875-47E2-08F7AE9B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6440850"/>
            <a:ext cx="52959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1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DF6A-2CBB-35DA-E097-6F4B1B11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879" y="78853"/>
            <a:ext cx="7958065" cy="53406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ZA" sz="3600" err="1">
                <a:solidFill>
                  <a:srgbClr val="00A9AC"/>
                </a:solidFill>
                <a:latin typeface="FNB Sans Regular"/>
              </a:rPr>
              <a:t>PaySure</a:t>
            </a:r>
            <a:r>
              <a:rPr lang="en-ZA" sz="3600">
                <a:solidFill>
                  <a:srgbClr val="00A9AC"/>
                </a:solidFill>
                <a:latin typeface="FNB Sans Regular"/>
              </a:rPr>
              <a:t> = Predict → Protect → Optimise</a:t>
            </a:r>
            <a:endParaRPr lang="en-US" sz="3600">
              <a:solidFill>
                <a:srgbClr val="00A9AC"/>
              </a:solidFill>
              <a:latin typeface="FNB Sans Regular"/>
            </a:endParaRPr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8D61D-6297-E1A4-BDB1-A2DA0476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AC3AF-3E50-FD3B-F6AC-E89BF8D7926B}"/>
              </a:ext>
            </a:extLst>
          </p:cNvPr>
          <p:cNvSpPr txBox="1"/>
          <p:nvPr/>
        </p:nvSpPr>
        <p:spPr>
          <a:xfrm>
            <a:off x="720948" y="1119571"/>
            <a:ext cx="1038465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FNB Sans Regular"/>
              </a:rPr>
              <a:t>PaySure</a:t>
            </a:r>
            <a:r>
              <a:rPr lang="en-US" sz="2400">
                <a:latin typeface="FNB Sans Regular"/>
              </a:rPr>
              <a:t> is a predictive financial protection layer built inside FNB’s ecosystem.</a:t>
            </a:r>
          </a:p>
          <a:p>
            <a:endParaRPr lang="en-US" sz="2400">
              <a:latin typeface="FNB Sans Regular"/>
            </a:endParaRPr>
          </a:p>
          <a:p>
            <a:r>
              <a:rPr lang="en-US" sz="2400" b="1">
                <a:latin typeface="FNB Sans Regular"/>
                <a:ea typeface="+mn-lt"/>
                <a:cs typeface="+mn-lt"/>
              </a:rPr>
              <a:t>It integrates: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FNB Sans Regular"/>
                <a:ea typeface="+mn-lt"/>
                <a:cs typeface="+mn-lt"/>
              </a:rPr>
              <a:t>nav»Money</a:t>
            </a:r>
            <a:r>
              <a:rPr lang="en-US">
                <a:latin typeface="FNB Sans Regular"/>
                <a:ea typeface="+mn-lt"/>
                <a:cs typeface="+mn-lt"/>
              </a:rPr>
              <a:t> predictive cashflow modelling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FNB Sans Regular"/>
                <a:ea typeface="+mn-lt"/>
                <a:cs typeface="+mn-lt"/>
              </a:rPr>
              <a:t>inContact real-time notifications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FNB Sans Regular"/>
                <a:ea typeface="+mn-lt"/>
                <a:cs typeface="+mn-lt"/>
              </a:rPr>
              <a:t>Existing FNB credit facilities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FNB Sans Regular"/>
                <a:ea typeface="+mn-lt"/>
                <a:cs typeface="+mn-lt"/>
              </a:rPr>
              <a:t>Behavioural</a:t>
            </a:r>
            <a:r>
              <a:rPr lang="en-US">
                <a:latin typeface="FNB Sans Regular"/>
                <a:ea typeface="+mn-lt"/>
                <a:cs typeface="+mn-lt"/>
              </a:rPr>
              <a:t> risk and affordability scoring</a:t>
            </a:r>
          </a:p>
          <a:p>
            <a:pPr marL="285750" indent="-285750">
              <a:buFont typeface="Arial"/>
              <a:buChar char="•"/>
            </a:pPr>
            <a:endParaRPr lang="en-US" sz="2400">
              <a:latin typeface="FNB Sans Regular"/>
              <a:ea typeface="+mn-lt"/>
              <a:cs typeface="+mn-lt"/>
            </a:endParaRPr>
          </a:p>
          <a:p>
            <a:r>
              <a:rPr lang="en-US" sz="2400" b="1">
                <a:latin typeface="FNB Sans Regular"/>
                <a:ea typeface="+mn-lt"/>
                <a:cs typeface="+mn-lt"/>
              </a:rPr>
              <a:t>Instead of reacting to failed debit orders, </a:t>
            </a:r>
            <a:r>
              <a:rPr lang="en-US" sz="2400" b="1" err="1">
                <a:latin typeface="FNB Sans Regular"/>
                <a:ea typeface="+mn-lt"/>
                <a:cs typeface="+mn-lt"/>
              </a:rPr>
              <a:t>PaySure</a:t>
            </a:r>
            <a:r>
              <a:rPr lang="en-US" sz="2400" b="1">
                <a:latin typeface="FNB Sans Regular"/>
                <a:ea typeface="+mn-lt"/>
                <a:cs typeface="+mn-lt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FNB Sans Regular"/>
                <a:ea typeface="+mn-lt"/>
                <a:cs typeface="+mn-lt"/>
              </a:rPr>
              <a:t>Detects risk before failure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FNB Sans Regular"/>
                <a:ea typeface="+mn-lt"/>
                <a:cs typeface="+mn-lt"/>
              </a:rPr>
              <a:t>Distinguishes timing risk from genuine shortfall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FNB Sans Regular"/>
                <a:ea typeface="+mn-lt"/>
                <a:cs typeface="+mn-lt"/>
              </a:rPr>
              <a:t>Guides customers to the lowest-risk solution</a:t>
            </a:r>
            <a:endParaRPr lang="en-US">
              <a:latin typeface="FNB Sans Regular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351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E3CA-5203-D9C4-4315-237BCB9CB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58A3156C-C546-DD4D-B3E4-86D482F1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85D8-4350-FFFB-5584-2960F249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8" y="748517"/>
            <a:ext cx="11616775" cy="5527260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400" b="1">
              <a:latin typeface="FNB Sans Regular"/>
            </a:endParaRPr>
          </a:p>
          <a:p>
            <a:pPr marL="227965" indent="-227965">
              <a:buNone/>
            </a:pPr>
            <a:r>
              <a:rPr lang="en-US" sz="2400" b="1">
                <a:latin typeface="FNB Sans Regular"/>
              </a:rPr>
              <a:t>Component 1: Debit Order Assurance</a:t>
            </a:r>
            <a:br>
              <a:rPr lang="en-US" sz="2400" b="1">
                <a:latin typeface="FNB Sans Regular"/>
              </a:rPr>
            </a:br>
            <a:r>
              <a:rPr lang="en-US" sz="2400" b="1">
                <a:latin typeface="FNB Sans Regular"/>
              </a:rPr>
              <a:t> </a:t>
            </a:r>
            <a:r>
              <a:rPr lang="en-US" sz="2400">
                <a:latin typeface="FNB Sans Regular"/>
              </a:rPr>
              <a:t>Prevents failures caused by timing and visibility gaps</a:t>
            </a:r>
            <a:r>
              <a:rPr lang="en-US" sz="2400" b="1">
                <a:latin typeface="FNB Sans Regular"/>
              </a:rPr>
              <a:t>.</a:t>
            </a:r>
            <a:endParaRPr lang="en-US"/>
          </a:p>
          <a:p>
            <a:pPr marL="227965" indent="-227965">
              <a:buNone/>
            </a:pPr>
            <a:endParaRPr lang="en-US" sz="2400" b="1">
              <a:latin typeface="FNB Sans Regular"/>
            </a:endParaRPr>
          </a:p>
          <a:p>
            <a:pPr marL="227965" indent="-227965">
              <a:buNone/>
            </a:pPr>
            <a:r>
              <a:rPr lang="en-US" sz="2400" b="1">
                <a:latin typeface="FNB Sans Regular"/>
              </a:rPr>
              <a:t>Component 2: Contextual Credit Engine (CCE)</a:t>
            </a:r>
            <a:br>
              <a:rPr lang="en-US" sz="2400" b="1">
                <a:latin typeface="FNB Sans Regular"/>
              </a:rPr>
            </a:br>
            <a:r>
              <a:rPr lang="en-US" sz="2400" b="1">
                <a:latin typeface="FNB Sans Regular"/>
              </a:rPr>
              <a:t> </a:t>
            </a:r>
            <a:r>
              <a:rPr lang="en-US" sz="2400" err="1">
                <a:latin typeface="FNB Sans Regular"/>
              </a:rPr>
              <a:t>Optimises</a:t>
            </a:r>
            <a:r>
              <a:rPr lang="en-US" sz="2400">
                <a:latin typeface="FNB Sans Regular"/>
              </a:rPr>
              <a:t> credit guidance when genuine liquidity gaps exist.</a:t>
            </a:r>
            <a:endParaRPr lang="en-US"/>
          </a:p>
          <a:p>
            <a:pPr marL="227965" indent="-227965" algn="ctr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D8872-78E0-85AC-55B8-60BD641B7D12}"/>
              </a:ext>
            </a:extLst>
          </p:cNvPr>
          <p:cNvSpPr txBox="1"/>
          <p:nvPr/>
        </p:nvSpPr>
        <p:spPr>
          <a:xfrm>
            <a:off x="3697426" y="-2078"/>
            <a:ext cx="4772150" cy="932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  <a:ea typeface="+mn-lt"/>
                <a:cs typeface="+mn-lt"/>
              </a:rPr>
              <a:t>Two Core Components </a:t>
            </a:r>
            <a:r>
              <a:rPr lang="en-US" sz="3600">
                <a:latin typeface="fnb sans regular"/>
                <a:ea typeface="+mn-lt"/>
                <a:cs typeface="+mn-lt"/>
              </a:rPr>
              <a:t>​</a:t>
            </a:r>
            <a:endParaRPr lang="en-US" sz="3600">
              <a:latin typeface="fnb sans regular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324FE93F-C71A-7903-B451-17662E83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51" y="3327605"/>
            <a:ext cx="4056063" cy="268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59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1AA6-788C-9A54-A1D5-4D52C6F0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16B945E-CC91-C49D-6306-A6F9D6D7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4D4B-5B41-AE11-E407-38D0E96AB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52" y="554944"/>
            <a:ext cx="9376723" cy="5527260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0" indent="0">
              <a:buNone/>
            </a:pPr>
            <a:endParaRPr lang="en-US" sz="2400" b="1">
              <a:latin typeface="FNB Sans Regular"/>
            </a:endParaRPr>
          </a:p>
          <a:p>
            <a:pPr marL="227965" indent="-227965">
              <a:buNone/>
            </a:pPr>
            <a:r>
              <a:rPr lang="en-US" sz="2400" b="1">
                <a:latin typeface="FNB Sans Regular"/>
              </a:rPr>
              <a:t>What It Solves</a:t>
            </a:r>
            <a:endParaRPr lang="en-US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Customers don’t know what debit orders are coming</a:t>
            </a:r>
            <a:endParaRPr lang="en-US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They don’t see projected balance impact</a:t>
            </a:r>
            <a:endParaRPr lang="en-US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They react after failure</a:t>
            </a:r>
            <a:endParaRPr lang="en-US"/>
          </a:p>
          <a:p>
            <a:pPr marL="227965" indent="-227965">
              <a:buFont typeface="Arial"/>
              <a:buChar char="•"/>
            </a:pPr>
            <a:endParaRPr lang="en-US" sz="2400">
              <a:latin typeface="FNB Sans Regular"/>
            </a:endParaRPr>
          </a:p>
          <a:p>
            <a:pPr marL="227965" indent="0">
              <a:buNone/>
            </a:pPr>
            <a:r>
              <a:rPr lang="en-US" sz="2400" b="1">
                <a:latin typeface="FNB Sans Regular"/>
              </a:rPr>
              <a:t>What It Does</a:t>
            </a:r>
            <a:endParaRPr lang="en-US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Shows upcoming debit obligations inside </a:t>
            </a:r>
            <a:r>
              <a:rPr lang="en-US" sz="2400" err="1">
                <a:latin typeface="FNB Sans Regular"/>
              </a:rPr>
              <a:t>nav»Money</a:t>
            </a:r>
            <a:endParaRPr lang="en-US" err="1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Sends pre-debit notifications (2–10 days prior)</a:t>
            </a:r>
            <a:endParaRPr lang="en-US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Projects balance after debit</a:t>
            </a:r>
            <a:endParaRPr lang="en-US"/>
          </a:p>
          <a:p>
            <a:pPr marL="227965" indent="-227965">
              <a:buFont typeface="Arial"/>
              <a:buChar char="•"/>
            </a:pPr>
            <a:r>
              <a:rPr lang="en-US" sz="2400">
                <a:latin typeface="FNB Sans Regular"/>
              </a:rPr>
              <a:t>Alerts when shortfall risk is predicted</a:t>
            </a:r>
            <a:endParaRPr lang="en-US"/>
          </a:p>
          <a:p>
            <a:pPr marL="227965" indent="-227965">
              <a:buFont typeface="Arial"/>
              <a:buChar char="•"/>
            </a:pPr>
            <a:endParaRPr lang="en-US" sz="2400">
              <a:latin typeface="FNB Sans Regular"/>
            </a:endParaRPr>
          </a:p>
          <a:p>
            <a:pPr marL="227965" indent="0">
              <a:buNone/>
            </a:pPr>
            <a:r>
              <a:rPr lang="en-US" sz="2400">
                <a:latin typeface="FNB Sans Regular"/>
              </a:rPr>
              <a:t>This addresses </a:t>
            </a:r>
            <a:r>
              <a:rPr lang="en-US" sz="2400" b="1">
                <a:latin typeface="FNB Sans Regular"/>
              </a:rPr>
              <a:t>Payment Orchestration Risk</a:t>
            </a:r>
            <a:r>
              <a:rPr lang="en-US" sz="2400">
                <a:latin typeface="FNB Sans Regular"/>
              </a:rPr>
              <a:t>.</a:t>
            </a:r>
            <a:endParaRPr lang="en-US"/>
          </a:p>
          <a:p>
            <a:pPr marL="227965" indent="-227965">
              <a:buNone/>
            </a:pPr>
            <a:endParaRPr lang="en-US" sz="2400" b="1"/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A74AA-DF4B-BE13-2F18-FA960C671F7E}"/>
              </a:ext>
            </a:extLst>
          </p:cNvPr>
          <p:cNvSpPr txBox="1"/>
          <p:nvPr/>
        </p:nvSpPr>
        <p:spPr>
          <a:xfrm>
            <a:off x="2222494" y="-2078"/>
            <a:ext cx="77127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  <a:ea typeface="+mn-lt"/>
                <a:cs typeface="+mn-lt"/>
              </a:rPr>
              <a:t>Component 1 – Debit Order Assurance</a:t>
            </a:r>
            <a:endParaRPr lang="en-US">
              <a:solidFill>
                <a:srgbClr val="00A9AC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3E20-8424-6338-8C15-E149E3F6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456" y="412885"/>
            <a:ext cx="9575800" cy="242872"/>
          </a:xfrm>
        </p:spPr>
        <p:txBody>
          <a:bodyPr>
            <a:normAutofit fontScale="90000"/>
          </a:bodyPr>
          <a:lstStyle/>
          <a:p>
            <a:endParaRPr lang="en-ZA" b="1"/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D0DF-81B6-35CA-3C62-ECE0BD71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6CD5E26E-D367-A54D-1C87-592618382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57" r="17297"/>
          <a:stretch>
            <a:fillRect/>
          </a:stretch>
        </p:blipFill>
        <p:spPr>
          <a:xfrm>
            <a:off x="208865" y="1807240"/>
            <a:ext cx="2083506" cy="4442006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A019D98D-C813-A7FD-68C1-8340A6B60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64" t="48" r="17913" b="202"/>
          <a:stretch>
            <a:fillRect/>
          </a:stretch>
        </p:blipFill>
        <p:spPr>
          <a:xfrm>
            <a:off x="2595738" y="1803930"/>
            <a:ext cx="2083301" cy="4443878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80741BE7-96D8-B988-CE89-573EB325D1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63" r="17843"/>
          <a:stretch>
            <a:fillRect/>
          </a:stretch>
        </p:blipFill>
        <p:spPr>
          <a:xfrm>
            <a:off x="5046179" y="1807504"/>
            <a:ext cx="2080335" cy="4442006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4537500F-B603-8724-5D39-15C17F4BCD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51" t="-294" r="17255"/>
          <a:stretch>
            <a:fillRect/>
          </a:stretch>
        </p:blipFill>
        <p:spPr>
          <a:xfrm>
            <a:off x="7432673" y="1806623"/>
            <a:ext cx="2080336" cy="4443151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95A043B1-34F9-D2D5-F950-DC150DE1B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3817" y="1812586"/>
            <a:ext cx="2082981" cy="443874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C4D94E7-BEAC-C0C4-1EBB-3DA66E8B142C}"/>
              </a:ext>
            </a:extLst>
          </p:cNvPr>
          <p:cNvSpPr txBox="1">
            <a:spLocks/>
          </p:cNvSpPr>
          <p:nvPr/>
        </p:nvSpPr>
        <p:spPr>
          <a:xfrm>
            <a:off x="225447" y="8189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Nav » Money → Upcoming Debit Orders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CD1CE7-0E71-1E72-01C3-634EDFEFAC9B}"/>
              </a:ext>
            </a:extLst>
          </p:cNvPr>
          <p:cNvSpPr/>
          <p:nvPr/>
        </p:nvSpPr>
        <p:spPr>
          <a:xfrm>
            <a:off x="223383" y="715051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03AF7A-CEBC-7AA5-D179-A9C6AB1F9BA1}"/>
              </a:ext>
            </a:extLst>
          </p:cNvPr>
          <p:cNvSpPr/>
          <p:nvPr/>
        </p:nvSpPr>
        <p:spPr>
          <a:xfrm>
            <a:off x="2391590" y="840636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62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1DE2-FE11-0B7E-F4E5-9EB838FAD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91C90-6EC1-7550-69DF-87889B87B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470" y="777546"/>
            <a:ext cx="4545204" cy="2209101"/>
          </a:xfrm>
        </p:spPr>
        <p:txBody>
          <a:bodyPr vert="horz" lIns="0" tIns="0" rIns="0" bIns="0" rtlCol="0" anchor="t">
            <a:noAutofit/>
          </a:bodyPr>
          <a:lstStyle/>
          <a:p>
            <a:pPr marL="227965" indent="-227965">
              <a:buNone/>
            </a:pPr>
            <a:r>
              <a:rPr lang="en-US" sz="2600">
                <a:latin typeface="FNB Sans Regular"/>
              </a:rPr>
              <a:t>Customer can:</a:t>
            </a:r>
            <a:endParaRPr lang="en-US" sz="2600"/>
          </a:p>
          <a:p>
            <a:pPr marL="0" indent="0">
              <a:buFont typeface="Wingdings"/>
              <a:buNone/>
            </a:pPr>
            <a:endParaRPr lang="en-US" sz="2600">
              <a:latin typeface="FNB Sans Regular"/>
            </a:endParaRPr>
          </a:p>
          <a:p>
            <a:pPr marL="342900" indent="-342900">
              <a:buFont typeface="Wingdings"/>
              <a:buChar char="v"/>
            </a:pPr>
            <a:r>
              <a:rPr lang="en-US" sz="2600">
                <a:latin typeface="FNB Sans Regular"/>
              </a:rPr>
              <a:t>View all scheduled debit orders</a:t>
            </a:r>
            <a:endParaRPr lang="en-US" sz="2600"/>
          </a:p>
          <a:p>
            <a:pPr marL="342900" indent="-342900">
              <a:buFont typeface="Wingdings"/>
              <a:buChar char="v"/>
            </a:pPr>
            <a:endParaRPr lang="en-US" sz="2600">
              <a:latin typeface="FNB Sans Regular"/>
            </a:endParaRPr>
          </a:p>
          <a:p>
            <a:pPr marL="342900" indent="-342900">
              <a:buFont typeface="Wingdings"/>
              <a:buChar char="v"/>
            </a:pPr>
            <a:r>
              <a:rPr lang="en-US" sz="2600">
                <a:latin typeface="FNB Sans Regular"/>
              </a:rPr>
              <a:t>See projected post-debit balance</a:t>
            </a:r>
            <a:endParaRPr lang="en-US" sz="2600"/>
          </a:p>
          <a:p>
            <a:pPr marL="342900" indent="-342900">
              <a:buFont typeface="Wingdings"/>
              <a:buChar char="v"/>
            </a:pPr>
            <a:endParaRPr lang="en-US" sz="2600">
              <a:latin typeface="FNB Sans Regular"/>
            </a:endParaRPr>
          </a:p>
          <a:p>
            <a:pPr marL="342900" indent="-342900">
              <a:buFont typeface="Wingdings"/>
              <a:buChar char="v"/>
            </a:pPr>
            <a:r>
              <a:rPr lang="en-US" sz="2600">
                <a:latin typeface="FNB Sans Regular"/>
              </a:rPr>
              <a:t>Identify shortfall risk visually</a:t>
            </a:r>
            <a:endParaRPr lang="en-US" sz="2600"/>
          </a:p>
          <a:p>
            <a:pPr marL="342900" indent="-342900">
              <a:buFont typeface="Wingdings"/>
              <a:buChar char="v"/>
            </a:pPr>
            <a:endParaRPr lang="en-US" sz="2600">
              <a:latin typeface="FNB Sans Regular"/>
            </a:endParaRPr>
          </a:p>
          <a:p>
            <a:pPr marL="342900" indent="-342900">
              <a:buFont typeface="Wingdings"/>
              <a:buChar char="v"/>
            </a:pPr>
            <a:r>
              <a:rPr lang="en-ZA" sz="2600">
                <a:latin typeface="FNB Sans Regular"/>
              </a:rPr>
              <a:t>Customise</a:t>
            </a:r>
            <a:r>
              <a:rPr lang="en-US" sz="2600">
                <a:latin typeface="FNB Sans Regular"/>
              </a:rPr>
              <a:t> notification timing</a:t>
            </a:r>
            <a:endParaRPr lang="en-US" sz="2600"/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60F28-D63D-5545-4783-324A14B2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BE048E16-27FA-20F8-839B-DE74AA4B0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003" y="188084"/>
            <a:ext cx="2851197" cy="621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70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072F-674C-7E60-C6D0-14FBFCBC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A0100-633C-CD17-8AC9-7335CC69E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838454"/>
            <a:ext cx="10472587" cy="587776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AAB98-9C1C-2E9C-A216-135150A2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8321EEF5-AEE6-7CFF-273B-957D46A94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485" y="386860"/>
            <a:ext cx="2808620" cy="60930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4440E2-AD56-CD22-2A4B-A8263A15FB65}"/>
              </a:ext>
            </a:extLst>
          </p:cNvPr>
          <p:cNvSpPr txBox="1"/>
          <p:nvPr/>
        </p:nvSpPr>
        <p:spPr>
          <a:xfrm>
            <a:off x="791710" y="1934308"/>
            <a:ext cx="5908254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FNB Sans Regular"/>
                <a:ea typeface="Segoe UI"/>
                <a:cs typeface="Segoe UI"/>
              </a:rPr>
              <a:t>Notification preview </a:t>
            </a:r>
            <a:endParaRPr lang="en-ZA" sz="2800">
              <a:latin typeface="FNB Sans Regular"/>
              <a:ea typeface="Segoe UI"/>
              <a:cs typeface="Segoe UI"/>
            </a:endParaRPr>
          </a:p>
          <a:p>
            <a:pPr rtl="0"/>
            <a:r>
              <a:rPr lang="en-US" sz="2800">
                <a:latin typeface="FNB Sans Regular"/>
                <a:ea typeface="Segoe UI"/>
                <a:cs typeface="Segoe UI"/>
              </a:rPr>
              <a:t>​</a:t>
            </a:r>
          </a:p>
          <a:p>
            <a:pPr marL="342900" indent="-342900">
              <a:buFont typeface="Wingdings"/>
              <a:buChar char="v"/>
            </a:pPr>
            <a:r>
              <a:rPr lang="en-US" sz="2800">
                <a:latin typeface="FNB Sans Regular"/>
                <a:ea typeface="Segoe UI"/>
                <a:cs typeface="Arial"/>
              </a:rPr>
              <a:t>Account number </a:t>
            </a:r>
            <a:endParaRPr lang="en-US" sz="2800">
              <a:latin typeface="FNB Sans Regular"/>
              <a:cs typeface="Arial"/>
            </a:endParaRPr>
          </a:p>
          <a:p>
            <a:pPr marL="342900" indent="-342900">
              <a:buFont typeface="Wingdings"/>
              <a:buChar char="v"/>
            </a:pPr>
            <a:endParaRPr lang="en-US" sz="2800">
              <a:latin typeface="FNB Sans Regular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800">
                <a:latin typeface="FNB Sans Regular"/>
                <a:cs typeface="Arial"/>
              </a:rPr>
              <a:t>Debit order title, amount and when it is due</a:t>
            </a:r>
          </a:p>
          <a:p>
            <a:pPr marL="342900" indent="-342900">
              <a:buFont typeface="Wingdings"/>
              <a:buChar char="v"/>
            </a:pPr>
            <a:endParaRPr lang="en-US" sz="2800">
              <a:latin typeface="FNB Sans Regular"/>
              <a:ea typeface="Calibri" panose="020F0502020204030204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800">
                <a:latin typeface="FNB Sans Regular"/>
                <a:ea typeface="Calibri" panose="020F0502020204030204"/>
                <a:cs typeface="Arial"/>
              </a:rPr>
              <a:t>Current account balance </a:t>
            </a: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7A21D64-765E-2871-43C0-1C3C834AE490}"/>
              </a:ext>
            </a:extLst>
          </p:cNvPr>
          <p:cNvSpPr txBox="1">
            <a:spLocks/>
          </p:cNvSpPr>
          <p:nvPr/>
        </p:nvSpPr>
        <p:spPr>
          <a:xfrm>
            <a:off x="225447" y="8189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Smart Notifications via inContact/App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FCB09-FC77-B7C2-DA00-8361C8DB8B0C}"/>
              </a:ext>
            </a:extLst>
          </p:cNvPr>
          <p:cNvSpPr/>
          <p:nvPr/>
        </p:nvSpPr>
        <p:spPr>
          <a:xfrm>
            <a:off x="223383" y="715051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9B8B11-2440-C852-C44A-045926C734E2}"/>
              </a:ext>
            </a:extLst>
          </p:cNvPr>
          <p:cNvSpPr/>
          <p:nvPr/>
        </p:nvSpPr>
        <p:spPr>
          <a:xfrm>
            <a:off x="2391590" y="840636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787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22DF-2E5D-0CF0-82A5-5F8FB03A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615E7-D998-F6F4-34A7-A8A6F90E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838454"/>
            <a:ext cx="10472587" cy="587776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9D36D-5D44-96B8-CE9E-9A391F39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09ED6-9DA8-599A-8232-B4FA1511B876}"/>
              </a:ext>
            </a:extLst>
          </p:cNvPr>
          <p:cNvSpPr txBox="1"/>
          <p:nvPr/>
        </p:nvSpPr>
        <p:spPr>
          <a:xfrm>
            <a:off x="1204418" y="1417615"/>
            <a:ext cx="5908254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FNB Sans Regular"/>
                <a:ea typeface="Segoe UI"/>
                <a:cs typeface="Segoe UI"/>
              </a:rPr>
              <a:t>​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latin typeface="FNB Sans Regular"/>
                <a:ea typeface="+mn-lt"/>
                <a:cs typeface="Arial"/>
              </a:rPr>
              <a:t>If new debit is </a:t>
            </a:r>
            <a:r>
              <a:rPr lang="en-US" sz="2400" err="1">
                <a:latin typeface="FNB Sans Regular"/>
                <a:ea typeface="+mn-lt"/>
                <a:cs typeface="Arial"/>
              </a:rPr>
              <a:t>authorised</a:t>
            </a:r>
            <a:r>
              <a:rPr lang="en-US" sz="2400">
                <a:latin typeface="FNB Sans Regular"/>
                <a:ea typeface="+mn-lt"/>
                <a:cs typeface="Arial"/>
              </a:rPr>
              <a:t>:</a:t>
            </a:r>
            <a:endParaRPr lang="en-US" sz="2400">
              <a:latin typeface="FNB Sans Regular"/>
              <a:ea typeface="Calibri" panose="020F0502020204030204"/>
              <a:cs typeface="Calibri" panose="020F0502020204030204"/>
            </a:endParaRPr>
          </a:p>
          <a:p>
            <a:endParaRPr lang="en-US" sz="2400">
              <a:latin typeface="FNB Sans Regular"/>
              <a:ea typeface="+mn-lt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ea typeface="+mn-lt"/>
                <a:cs typeface="Arial"/>
              </a:rPr>
              <a:t>Customer is alerted immediately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v"/>
            </a:pPr>
            <a:endParaRPr lang="en-US" sz="2400">
              <a:latin typeface="FNB Sans Regular"/>
              <a:ea typeface="+mn-lt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ea typeface="+mn-lt"/>
                <a:cs typeface="Arial"/>
              </a:rPr>
              <a:t>Asked to schedule reminder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v"/>
            </a:pPr>
            <a:endParaRPr lang="en-US" sz="2400">
              <a:latin typeface="FNB Sans Regular"/>
              <a:ea typeface="Calibri" panose="020F0502020204030204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ea typeface="Calibri" panose="020F0502020204030204"/>
                <a:cs typeface="Arial"/>
              </a:rPr>
              <a:t>Gains visibility from day one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227965" indent="-227965">
              <a:buFont typeface="Wingdings"/>
              <a:buChar char="v"/>
            </a:pPr>
            <a:endParaRPr lang="en-US" sz="2400">
              <a:latin typeface="FNB Sans Regular"/>
              <a:ea typeface="Calibri" panose="020F0502020204030204"/>
              <a:cs typeface="Arial"/>
            </a:endParaRPr>
          </a:p>
          <a:p>
            <a:r>
              <a:rPr lang="en-US" sz="2400">
                <a:latin typeface="FNB Sans Regular"/>
                <a:ea typeface="Calibri" panose="020F0502020204030204"/>
                <a:cs typeface="Arial"/>
              </a:rPr>
              <a:t>This closes the visibility gap entirely.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F472B10B-5D52-5583-EB86-F62B39F4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454" y="271313"/>
            <a:ext cx="2805416" cy="613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89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9E97-B631-A254-EE84-2E8F0386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BCEA5-DAF7-5EFC-FBC1-D9028BEFC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838454"/>
            <a:ext cx="10472587" cy="587776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C3F82-C4B5-76C7-DCDB-B505934E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3AA05-1686-AFAA-BCF9-FD490D146055}"/>
              </a:ext>
            </a:extLst>
          </p:cNvPr>
          <p:cNvSpPr txBox="1"/>
          <p:nvPr/>
        </p:nvSpPr>
        <p:spPr>
          <a:xfrm>
            <a:off x="581821" y="1101733"/>
            <a:ext cx="5908254" cy="3964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998"/>
              </a:spcBef>
            </a:pPr>
            <a:endParaRPr lang="en-US" sz="2400">
              <a:latin typeface="fnb sans regular"/>
              <a:cs typeface="Segoe UI"/>
            </a:endParaRPr>
          </a:p>
          <a:p>
            <a:pPr rtl="0"/>
            <a:endParaRPr lang="en-US" sz="2400">
              <a:latin typeface="FNB Sans Regular"/>
              <a:ea typeface="Segoe UI"/>
              <a:cs typeface="Segoe UI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cs typeface="Arial"/>
              </a:rPr>
              <a:t> New debit order is highlighted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/>
              <a:buChar char="v"/>
            </a:pPr>
            <a:endParaRPr lang="en-US" sz="2400">
              <a:latin typeface="FNB Sans Regular"/>
              <a:ea typeface="Calibri" panose="020F0502020204030204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ea typeface="Calibri" panose="020F0502020204030204"/>
                <a:cs typeface="Arial"/>
              </a:rPr>
              <a:t> New debit order required reminder to be scheduled</a:t>
            </a:r>
          </a:p>
          <a:p>
            <a:pPr marL="342900" indent="-342900">
              <a:buFont typeface="Wingdings"/>
              <a:buChar char="v"/>
            </a:pPr>
            <a:endParaRPr lang="en-US" sz="2400">
              <a:latin typeface="FNB Sans Regular"/>
              <a:ea typeface="Calibri" panose="020F0502020204030204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ea typeface="Calibri" panose="020F0502020204030204"/>
                <a:cs typeface="Arial"/>
              </a:rPr>
              <a:t> Potential shortfall of funds predicted due to new debit order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>
                <a:latin typeface="FNB Sans Regular"/>
                <a:ea typeface="Calibri" panose="020F0502020204030204"/>
                <a:cs typeface="Arial"/>
              </a:rPr>
              <a:t>R2 685,98 shortfall post debit order payments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6612F064-E2E5-B2C9-B9B7-F329B43F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981" y="316523"/>
            <a:ext cx="2932146" cy="618099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BC957F-1BA2-7CBA-F8AD-BB72A6DBE6E7}"/>
              </a:ext>
            </a:extLst>
          </p:cNvPr>
          <p:cNvSpPr txBox="1">
            <a:spLocks/>
          </p:cNvSpPr>
          <p:nvPr/>
        </p:nvSpPr>
        <p:spPr>
          <a:xfrm>
            <a:off x="1052513" y="990854"/>
            <a:ext cx="10472587" cy="587776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143" indent="-228143" algn="l" defTabSz="912571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1pPr>
            <a:lvl2pPr marL="684428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2pPr>
            <a:lvl3pPr marL="1140714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3pPr>
            <a:lvl4pPr marL="1597000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4pPr>
            <a:lvl5pPr marL="2053285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FNB Sans Regular" panose="02000000000000000000" pitchFamily="2" charset="0"/>
                <a:ea typeface="+mn-ea"/>
                <a:cs typeface="+mn-cs"/>
              </a:defRPr>
            </a:lvl5pPr>
            <a:lvl6pPr marL="2509571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5856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2142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8428" indent="-228143" algn="l" defTabSz="91257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FNB Sans Regular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FNB Sans Regular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ZA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13879D6-6CD5-D352-7806-0BA3DD6966B8}"/>
              </a:ext>
            </a:extLst>
          </p:cNvPr>
          <p:cNvSpPr txBox="1">
            <a:spLocks/>
          </p:cNvSpPr>
          <p:nvPr/>
        </p:nvSpPr>
        <p:spPr>
          <a:xfrm>
            <a:off x="225447" y="8189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Walkthrough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AE65B-E8B6-E2E7-6A29-B46950F5E8AE}"/>
              </a:ext>
            </a:extLst>
          </p:cNvPr>
          <p:cNvSpPr/>
          <p:nvPr/>
        </p:nvSpPr>
        <p:spPr>
          <a:xfrm>
            <a:off x="223383" y="715051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2C932-BC84-BEF2-F50F-E71E76086971}"/>
              </a:ext>
            </a:extLst>
          </p:cNvPr>
          <p:cNvSpPr/>
          <p:nvPr/>
        </p:nvSpPr>
        <p:spPr>
          <a:xfrm>
            <a:off x="2391590" y="840636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998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87580-FA5F-2A04-EE40-6405AE689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70302-EB37-4A50-C24A-FF2430025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838454"/>
            <a:ext cx="10472587" cy="587776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15EAB-A5A8-E741-A76D-4847A57A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B1B33-E2A2-7BDC-53F7-742AE58CFF56}"/>
              </a:ext>
            </a:extLst>
          </p:cNvPr>
          <p:cNvSpPr txBox="1"/>
          <p:nvPr/>
        </p:nvSpPr>
        <p:spPr>
          <a:xfrm>
            <a:off x="351363" y="1479660"/>
            <a:ext cx="3649764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FNB Sans Regular"/>
                <a:ea typeface="Segoe UI"/>
                <a:cs typeface="Segoe UI"/>
              </a:rPr>
              <a:t>​</a:t>
            </a:r>
            <a:endParaRPr lang="en-US"/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cs typeface="Arial"/>
              </a:rPr>
              <a:t> The customer may select a pre-debit order reminder  based on personal preference</a:t>
            </a:r>
          </a:p>
          <a:p>
            <a:pPr marL="342900" indent="-342900">
              <a:buFont typeface="Wingdings"/>
              <a:buChar char="v"/>
            </a:pPr>
            <a:endParaRPr lang="en-US" sz="2400">
              <a:latin typeface="FNB Sans Regular"/>
              <a:ea typeface="Calibri" panose="020F0502020204030204"/>
              <a:cs typeface="Arial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>
                <a:latin typeface="FNB Sans Regular"/>
                <a:ea typeface="Calibri" panose="020F0502020204030204"/>
                <a:cs typeface="Arial"/>
              </a:rPr>
              <a:t> The customer may also opt to not be reminded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E86AAF99-6594-B5B3-478D-6110D8136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391" y="142377"/>
            <a:ext cx="2939315" cy="6179009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46181077-1FA9-517D-3B8A-4182C188E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01" y="138264"/>
            <a:ext cx="2943103" cy="61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43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0669-C1B1-4FD7-8B76-5C1C123F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9994536-A987-BFFA-F7CB-49DA1794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B100-2FC2-479E-4745-20473E86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954" y="1246275"/>
            <a:ext cx="9376723" cy="3969462"/>
          </a:xfrm>
        </p:spPr>
        <p:txBody>
          <a:bodyPr vert="horz" lIns="0" tIns="0" rIns="0" bIns="0" rtlCol="0" anchor="t">
            <a:normAutofit fontScale="850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b="1">
                <a:latin typeface="FNB Sans Regular"/>
              </a:rPr>
              <a:t>When Funds Truly Don’t Exist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endParaRPr lang="en-US" sz="2400" b="1">
              <a:latin typeface="FNB Sans Regula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 b="1">
                <a:latin typeface="FNB Sans Regular"/>
              </a:rPr>
              <a:t>I</a:t>
            </a:r>
            <a:r>
              <a:rPr lang="en-US" sz="2400">
                <a:latin typeface="FNB Sans Regular"/>
              </a:rPr>
              <a:t>f liquidity risk is confirmed: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endParaRPr lang="en-US" sz="2400">
              <a:latin typeface="FNB Sans Regula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>
                <a:latin typeface="FNB Sans Regular"/>
              </a:rPr>
              <a:t>The system asks: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r>
              <a:rPr lang="en-US" sz="2400">
                <a:latin typeface="FNB Sans Regular"/>
              </a:rPr>
              <a:t>“What is the lowest-risk way to prevent this failure?”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endParaRPr lang="en-US" sz="2400">
              <a:latin typeface="FNB Sans Regula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>
                <a:latin typeface="FNB Sans Regular"/>
              </a:rPr>
              <a:t>Not: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r>
              <a:rPr lang="en-US" sz="2400">
                <a:latin typeface="FNB Sans Regular"/>
              </a:rPr>
              <a:t>“Do you qualify for a loan?”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endParaRPr lang="en-US" sz="2400">
              <a:latin typeface="FNB Sans Regula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>
                <a:latin typeface="FNB Sans Regular"/>
              </a:rPr>
              <a:t>CCE transforms credit from product push to contextual </a:t>
            </a:r>
            <a:r>
              <a:rPr lang="en-US" sz="2400" err="1">
                <a:latin typeface="FNB Sans Regular"/>
              </a:rPr>
              <a:t>optimisation</a:t>
            </a:r>
            <a:r>
              <a:rPr lang="en-US" sz="2400">
                <a:latin typeface="FNB Sans Regular"/>
              </a:rPr>
              <a:t>.</a:t>
            </a:r>
            <a:endParaRPr lang="en-US"/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r>
              <a:rPr lang="en-US" sz="2400">
                <a:latin typeface="FNB Sans Regular"/>
              </a:rPr>
              <a:t>This addresses </a:t>
            </a:r>
            <a:r>
              <a:rPr lang="en-US" sz="2400" b="1">
                <a:latin typeface="FNB Sans Regular"/>
              </a:rPr>
              <a:t>Short-Duration Liquidity Risk</a:t>
            </a:r>
            <a:endParaRPr lang="en-US" b="1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C5892-2A54-66AF-7AA0-A480DC99BBE6}"/>
              </a:ext>
            </a:extLst>
          </p:cNvPr>
          <p:cNvSpPr txBox="1"/>
          <p:nvPr/>
        </p:nvSpPr>
        <p:spPr>
          <a:xfrm>
            <a:off x="1968812" y="-22160"/>
            <a:ext cx="82328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A9AC"/>
                </a:solidFill>
                <a:latin typeface="fnb sans regular"/>
                <a:ea typeface="+mn-lt"/>
                <a:cs typeface="+mn-lt"/>
              </a:rPr>
              <a:t>Component 2 – Contextual Credit Engine</a:t>
            </a:r>
            <a:endParaRPr lang="en-US">
              <a:solidFill>
                <a:srgbClr val="00A9AC"/>
              </a:solidFill>
            </a:endParaRPr>
          </a:p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5EBC52-2A80-EA96-54C2-07E814614666}"/>
                  </a:ext>
                </a:extLst>
              </p14:cNvPr>
              <p14:cNvContentPartPr/>
              <p14:nvPr/>
            </p14:nvContentPartPr>
            <p14:xfrm>
              <a:off x="4207177" y="441804"/>
              <a:ext cx="10040" cy="1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5EBC52-2A80-EA96-54C2-07E8146146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5177" y="-60196"/>
                <a:ext cx="1004000" cy="100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230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65A76-5AEF-4125-34F8-F0C39C68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401" y="1130443"/>
            <a:ext cx="9575800" cy="5148000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227965" indent="-227965">
              <a:buNone/>
            </a:pPr>
            <a:r>
              <a:rPr lang="en-US">
                <a:latin typeface="FNB Sans Regular"/>
              </a:rPr>
              <a:t>Three-stage logic:</a:t>
            </a:r>
            <a:endParaRPr lang="en-US"/>
          </a:p>
          <a:p>
            <a:pPr marL="227965" indent="-227965">
              <a:buNone/>
            </a:pPr>
            <a:endParaRPr lang="en-US">
              <a:latin typeface="FNB Sans Regular"/>
            </a:endParaRPr>
          </a:p>
          <a:p>
            <a:pPr marL="227965" indent="-227965">
              <a:buFont typeface="Arial"/>
              <a:buChar char="•"/>
            </a:pPr>
            <a:r>
              <a:rPr lang="en-US" b="1">
                <a:latin typeface="FNB Sans Regular"/>
              </a:rPr>
              <a:t>Event Classification</a:t>
            </a:r>
            <a:endParaRPr lang="en-US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Timing risk? → No credit needed</a:t>
            </a:r>
            <a:endParaRPr lang="en-US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Genuine shortfall? → Proceed</a:t>
            </a:r>
            <a:endParaRPr lang="en-US"/>
          </a:p>
          <a:p>
            <a:pPr marL="969645" lvl="1" indent="-285750">
              <a:buFont typeface="Arial"/>
              <a:buChar char="•"/>
            </a:pPr>
            <a:endParaRPr lang="en-US">
              <a:latin typeface="FNB Sans Regular"/>
            </a:endParaRPr>
          </a:p>
          <a:p>
            <a:pPr marL="227965" indent="-227965">
              <a:buFont typeface="Arial"/>
              <a:buChar char="•"/>
            </a:pPr>
            <a:r>
              <a:rPr lang="en-US" b="1">
                <a:latin typeface="FNB Sans Regular"/>
              </a:rPr>
              <a:t>Repayment Certainty Index (RCI)</a:t>
            </a:r>
            <a:endParaRPr lang="en-US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Measures short-horizon repayment confidence</a:t>
            </a:r>
            <a:endParaRPr lang="en-US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Tiered (T1–T4)</a:t>
            </a:r>
            <a:endParaRPr lang="en-US"/>
          </a:p>
          <a:p>
            <a:pPr marL="969645" lvl="1" indent="-285750">
              <a:buFont typeface="Arial"/>
              <a:buChar char="•"/>
            </a:pPr>
            <a:endParaRPr lang="en-US">
              <a:latin typeface="FNB Sans Regular"/>
            </a:endParaRPr>
          </a:p>
          <a:p>
            <a:pPr marL="227965" indent="-227965">
              <a:buFont typeface="Arial"/>
              <a:buChar char="•"/>
            </a:pPr>
            <a:r>
              <a:rPr lang="en-US" b="1">
                <a:latin typeface="FNB Sans Regular"/>
              </a:rPr>
              <a:t>Product </a:t>
            </a:r>
            <a:r>
              <a:rPr lang="en-US" b="1" err="1">
                <a:latin typeface="FNB Sans Regular"/>
              </a:rPr>
              <a:t>Optimisation</a:t>
            </a:r>
            <a:endParaRPr lang="en-ZA" err="1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Simulates overdraft, credit card, temp loan, salary advance</a:t>
            </a:r>
            <a:endParaRPr lang="en-US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Calculates Risk-Adjusted Liquidity Cost (RALC)</a:t>
            </a:r>
            <a:endParaRPr lang="en-US"/>
          </a:p>
          <a:p>
            <a:pPr marL="969645" lvl="1" indent="-285750">
              <a:buFont typeface="Arial"/>
              <a:buChar char="•"/>
            </a:pPr>
            <a:r>
              <a:rPr lang="en-US">
                <a:latin typeface="FNB Sans Regular"/>
              </a:rPr>
              <a:t>Recommends lowest-risk option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4B7FD-4F4E-B445-D81B-6FFA8EB3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329A54-F4B8-E5C4-2CEB-8A9638F5CC73}"/>
              </a:ext>
            </a:extLst>
          </p:cNvPr>
          <p:cNvSpPr txBox="1">
            <a:spLocks/>
          </p:cNvSpPr>
          <p:nvPr/>
        </p:nvSpPr>
        <p:spPr>
          <a:xfrm>
            <a:off x="1090456" y="412885"/>
            <a:ext cx="9575800" cy="242872"/>
          </a:xfrm>
          <a:prstGeom prst="rect">
            <a:avLst/>
          </a:prstGeom>
        </p:spPr>
        <p:txBody>
          <a:bodyPr vert="horz" lIns="0" tIns="0" rIns="0" bIns="0" rtlCol="0" anchor="t">
            <a:normAutofit fontScale="97500" lnSpcReduction="10000"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endParaRPr lang="en-ZA" b="1"/>
          </a:p>
          <a:p>
            <a:endParaRPr lang="en-Z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2B13FA-A35B-EE33-A1C4-2E7C965BD9B4}"/>
              </a:ext>
            </a:extLst>
          </p:cNvPr>
          <p:cNvSpPr txBox="1">
            <a:spLocks/>
          </p:cNvSpPr>
          <p:nvPr/>
        </p:nvSpPr>
        <p:spPr>
          <a:xfrm>
            <a:off x="225447" y="8189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How the CCE Thinks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3082F-B04A-F749-4CFD-6302BBF68F9C}"/>
              </a:ext>
            </a:extLst>
          </p:cNvPr>
          <p:cNvSpPr/>
          <p:nvPr/>
        </p:nvSpPr>
        <p:spPr>
          <a:xfrm>
            <a:off x="223383" y="715051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80B9DF-BAA9-96F9-D5A3-E2E042867FB0}"/>
              </a:ext>
            </a:extLst>
          </p:cNvPr>
          <p:cNvSpPr/>
          <p:nvPr/>
        </p:nvSpPr>
        <p:spPr>
          <a:xfrm>
            <a:off x="2391590" y="840636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818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30EE-68DE-C8DF-A775-C0BB3D0A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F5B9-C7A7-E5BC-48B6-675B6C076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838454"/>
            <a:ext cx="10472587" cy="587776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>
              <a:latin typeface="FNB Sans Regular"/>
            </a:endParaRPr>
          </a:p>
          <a:p>
            <a:pPr marL="0" indent="0">
              <a:buNone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ü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4C994-E1D8-3E45-24EF-00A2B4B8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29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0A436E-3700-85E1-75A9-90C431D546CC}"/>
              </a:ext>
            </a:extLst>
          </p:cNvPr>
          <p:cNvSpPr txBox="1">
            <a:spLocks/>
          </p:cNvSpPr>
          <p:nvPr/>
        </p:nvSpPr>
        <p:spPr>
          <a:xfrm>
            <a:off x="225447" y="8189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Walkthrough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EE3FF4-CCD6-5176-410D-FF215CBC18BF}"/>
              </a:ext>
            </a:extLst>
          </p:cNvPr>
          <p:cNvSpPr/>
          <p:nvPr/>
        </p:nvSpPr>
        <p:spPr>
          <a:xfrm>
            <a:off x="223383" y="715051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F9E558-1794-E534-0BF4-84E98A2D0CF5}"/>
              </a:ext>
            </a:extLst>
          </p:cNvPr>
          <p:cNvSpPr/>
          <p:nvPr/>
        </p:nvSpPr>
        <p:spPr>
          <a:xfrm>
            <a:off x="2391590" y="840636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F5A4C70-6DF4-DF62-1E3C-DE323C83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88" y="995517"/>
            <a:ext cx="5134605" cy="5327853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307983F-C9EA-2017-DEF5-120585955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29" y="1250491"/>
            <a:ext cx="2096771" cy="454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29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9A679-DE02-4667-E5EA-64E13952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316770E4-99FD-71D2-8F15-27AEB79D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30</a:t>
            </a:fld>
            <a:endParaRPr lang="en-US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F8BCDA4F-B8D8-CA8F-D4EC-14052150F061}"/>
              </a:ext>
            </a:extLst>
          </p:cNvPr>
          <p:cNvSpPr txBox="1">
            <a:spLocks/>
          </p:cNvSpPr>
          <p:nvPr/>
        </p:nvSpPr>
        <p:spPr>
          <a:xfrm>
            <a:off x="1141411" y="3431729"/>
            <a:ext cx="8064499" cy="7779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chemeClr val="bg1"/>
                </a:solidFill>
                <a:latin typeface="FNB Sans Regular"/>
              </a:rPr>
              <a:t>Strategic Impact</a:t>
            </a:r>
            <a:endParaRPr lang="en-US" sz="6600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343B5E8-AB2D-4294-FD3B-591A4D4E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2413000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6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7DCA-E503-1A31-6EC6-8E06B98D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91E3-5E1C-9C7D-ED96-0D5505EE0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26" y="1360887"/>
            <a:ext cx="9575800" cy="5148000"/>
          </a:xfrm>
        </p:spPr>
        <p:txBody>
          <a:bodyPr vert="horz" lIns="0" tIns="0" rIns="0" bIns="0" rtlCol="0" anchor="t">
            <a:normAutofit/>
          </a:bodyPr>
          <a:lstStyle/>
          <a:p>
            <a:pPr marL="227965" indent="-227965">
              <a:buNone/>
            </a:pPr>
            <a:r>
              <a:rPr lang="en-US" err="1">
                <a:latin typeface="FNB Sans Regular"/>
              </a:rPr>
              <a:t>PaySure</a:t>
            </a:r>
            <a:r>
              <a:rPr lang="en-US">
                <a:latin typeface="FNB Sans Regular"/>
              </a:rPr>
              <a:t> reshapes debit-order economics.</a:t>
            </a:r>
            <a:endParaRPr lang="en-US"/>
          </a:p>
          <a:p>
            <a:pPr marL="227965" indent="-227965">
              <a:buNone/>
            </a:pPr>
            <a:endParaRPr lang="en-US">
              <a:latin typeface="FNB Sans Regular"/>
            </a:endParaRPr>
          </a:p>
          <a:p>
            <a:pPr marL="227965" indent="-227965">
              <a:buNone/>
            </a:pPr>
            <a:r>
              <a:rPr lang="en-US">
                <a:latin typeface="FNB Sans Regular"/>
              </a:rPr>
              <a:t>Between Apr 2024 – Jan 2026:</a:t>
            </a:r>
            <a:endParaRPr lang="en-US"/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233 million debit orders processed</a:t>
            </a:r>
            <a:endParaRPr lang="en-US"/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19.54% failure rate</a:t>
            </a:r>
            <a:endParaRPr lang="en-ZA"/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~12 million failures annually</a:t>
            </a:r>
            <a:endParaRPr lang="en-US"/>
          </a:p>
          <a:p>
            <a:pPr marL="227965" indent="-227965">
              <a:buFont typeface="Wingdings"/>
              <a:buChar char="v"/>
            </a:pPr>
            <a:endParaRPr lang="en-US">
              <a:latin typeface="FNB Sans Regular"/>
            </a:endParaRPr>
          </a:p>
          <a:p>
            <a:pPr marL="0" indent="0">
              <a:buNone/>
            </a:pPr>
            <a:r>
              <a:rPr lang="en-US">
                <a:latin typeface="FNB Sans Regular"/>
              </a:rPr>
              <a:t>Even a 1% improvement = massive impact.</a:t>
            </a:r>
            <a:endParaRPr lang="en-US"/>
          </a:p>
          <a:p>
            <a:pPr marL="227965" indent="-227965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>
              <a:buFont typeface="Wingdings" panose="020B0604020202020204" pitchFamily="34" charset="0"/>
              <a:buChar char="v"/>
            </a:pP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8AA04-CA74-71F7-2B79-A9B54DF7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C40FB8-98F0-EA81-5867-27B95F2CD351}"/>
              </a:ext>
            </a:extLst>
          </p:cNvPr>
          <p:cNvSpPr txBox="1">
            <a:spLocks/>
          </p:cNvSpPr>
          <p:nvPr/>
        </p:nvSpPr>
        <p:spPr>
          <a:xfrm>
            <a:off x="1090456" y="412885"/>
            <a:ext cx="9575800" cy="242872"/>
          </a:xfrm>
          <a:prstGeom prst="rect">
            <a:avLst/>
          </a:prstGeom>
        </p:spPr>
        <p:txBody>
          <a:bodyPr vert="horz" lIns="0" tIns="0" rIns="0" bIns="0" rtlCol="0" anchor="t">
            <a:normAutofit fontScale="97500" lnSpcReduction="10000"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endParaRPr lang="en-ZA" b="1"/>
          </a:p>
          <a:p>
            <a:endParaRPr lang="en-Z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CAA716-1BD3-816E-4629-04778274A58D}"/>
              </a:ext>
            </a:extLst>
          </p:cNvPr>
          <p:cNvSpPr txBox="1">
            <a:spLocks/>
          </p:cNvSpPr>
          <p:nvPr/>
        </p:nvSpPr>
        <p:spPr>
          <a:xfrm>
            <a:off x="225447" y="81898"/>
            <a:ext cx="5464756" cy="6395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A9AC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ZA" sz="2100" b="1">
                <a:latin typeface="FNB Sans Regular"/>
              </a:rPr>
              <a:t>Why this matters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55BFC-3690-6FF7-CAA6-A3CF4E3D5D96}"/>
              </a:ext>
            </a:extLst>
          </p:cNvPr>
          <p:cNvSpPr/>
          <p:nvPr/>
        </p:nvSpPr>
        <p:spPr>
          <a:xfrm>
            <a:off x="223383" y="715051"/>
            <a:ext cx="5297487" cy="53629"/>
          </a:xfrm>
          <a:prstGeom prst="rect">
            <a:avLst/>
          </a:prstGeom>
          <a:solidFill>
            <a:srgbClr val="004750"/>
          </a:solidFill>
          <a:ln>
            <a:solidFill>
              <a:srgbClr val="004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ED21E-72DD-A12A-53F2-10BD1A568DE4}"/>
              </a:ext>
            </a:extLst>
          </p:cNvPr>
          <p:cNvSpPr/>
          <p:nvPr/>
        </p:nvSpPr>
        <p:spPr>
          <a:xfrm>
            <a:off x="2391590" y="840636"/>
            <a:ext cx="3129280" cy="45719"/>
          </a:xfrm>
          <a:prstGeom prst="rect">
            <a:avLst/>
          </a:prstGeom>
          <a:solidFill>
            <a:srgbClr val="B0E3E4"/>
          </a:solidFill>
          <a:ln>
            <a:solidFill>
              <a:srgbClr val="B0E3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A9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03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7BCC135F-B454-AF25-A235-F24EFCC7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32</a:t>
            </a:fld>
            <a:endParaRPr lang="en-US"/>
          </a:p>
        </p:txBody>
      </p:sp>
      <p:sp>
        <p:nvSpPr>
          <p:cNvPr id="4" name="Title 32">
            <a:extLst>
              <a:ext uri="{FF2B5EF4-FFF2-40B4-BE49-F238E27FC236}">
                <a16:creationId xmlns:a16="http://schemas.microsoft.com/office/drawing/2014/main" id="{33A1FD6B-38D2-445C-02F3-0F027BAA588C}"/>
              </a:ext>
            </a:extLst>
          </p:cNvPr>
          <p:cNvSpPr txBox="1">
            <a:spLocks/>
          </p:cNvSpPr>
          <p:nvPr/>
        </p:nvSpPr>
        <p:spPr>
          <a:xfrm>
            <a:off x="1141411" y="3431729"/>
            <a:ext cx="8064499" cy="7779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chemeClr val="bg1"/>
                </a:solidFill>
                <a:latin typeface="FNB Sans Regular"/>
              </a:rPr>
              <a:t>Competitive and Strategic  Landscape</a:t>
            </a:r>
            <a:endParaRPr lang="en-US" sz="6600">
              <a:solidFill>
                <a:schemeClr val="bg1"/>
              </a:solidFill>
            </a:endParaRPr>
          </a:p>
        </p:txBody>
      </p:sp>
      <p:pic>
        <p:nvPicPr>
          <p:cNvPr id="5" name="Picture 4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0CD312A9-20AB-0DC0-5BD0-40B07523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2413000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4F6B2-121B-A289-61AF-0A7118A9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4AED1-1777-3B3F-E7AB-40FE8405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F73A9-4CE5-D07B-9212-D6298F4E0CBC}"/>
              </a:ext>
            </a:extLst>
          </p:cNvPr>
          <p:cNvSpPr txBox="1"/>
          <p:nvPr/>
        </p:nvSpPr>
        <p:spPr>
          <a:xfrm>
            <a:off x="662092" y="900000"/>
            <a:ext cx="84895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>
                <a:solidFill>
                  <a:srgbClr val="00A9AC"/>
                </a:solidFill>
                <a:latin typeface="FNB Sans Regular" panose="02000000000000000000" pitchFamily="50" charset="0"/>
              </a:rPr>
              <a:t>Customers today want financial insight, not just information.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0E2BFBB-0834-FB93-AAD6-E68F4F056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250983"/>
              </p:ext>
            </p:extLst>
          </p:nvPr>
        </p:nvGraphicFramePr>
        <p:xfrm>
          <a:off x="662092" y="1705986"/>
          <a:ext cx="10242974" cy="3862959"/>
        </p:xfrm>
        <a:graphic>
          <a:graphicData uri="http://schemas.openxmlformats.org/drawingml/2006/table">
            <a:tbl>
              <a:tblPr/>
              <a:tblGrid>
                <a:gridCol w="2033936">
                  <a:extLst>
                    <a:ext uri="{9D8B030D-6E8A-4147-A177-3AD203B41FA5}">
                      <a16:colId xmlns:a16="http://schemas.microsoft.com/office/drawing/2014/main" val="3088692403"/>
                    </a:ext>
                  </a:extLst>
                </a:gridCol>
                <a:gridCol w="2033936">
                  <a:extLst>
                    <a:ext uri="{9D8B030D-6E8A-4147-A177-3AD203B41FA5}">
                      <a16:colId xmlns:a16="http://schemas.microsoft.com/office/drawing/2014/main" val="2394998518"/>
                    </a:ext>
                  </a:extLst>
                </a:gridCol>
                <a:gridCol w="2033936">
                  <a:extLst>
                    <a:ext uri="{9D8B030D-6E8A-4147-A177-3AD203B41FA5}">
                      <a16:colId xmlns:a16="http://schemas.microsoft.com/office/drawing/2014/main" val="3476977530"/>
                    </a:ext>
                  </a:extLst>
                </a:gridCol>
                <a:gridCol w="2033936">
                  <a:extLst>
                    <a:ext uri="{9D8B030D-6E8A-4147-A177-3AD203B41FA5}">
                      <a16:colId xmlns:a16="http://schemas.microsoft.com/office/drawing/2014/main" val="3718347532"/>
                    </a:ext>
                  </a:extLst>
                </a:gridCol>
                <a:gridCol w="2107230">
                  <a:extLst>
                    <a:ext uri="{9D8B030D-6E8A-4147-A177-3AD203B41FA5}">
                      <a16:colId xmlns:a16="http://schemas.microsoft.com/office/drawing/2014/main" val="235599664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cap="all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Bank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cap="all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Prediction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cap="all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Visibility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cap="all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Proactivity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400" b="1" i="0" cap="all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Key Gap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8119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FNB</a:t>
                      </a:r>
                      <a:r>
                        <a:rPr lang="en-US" sz="1200" b="0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0" i="0">
                        <a:solidFill>
                          <a:srgbClr val="131313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✓​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571" rtl="0" eaLnBrk="1" fontAlgn="base" latinLnBrk="0" hangingPunct="1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Lack a proactive element to its money management tool​</a:t>
                      </a:r>
                      <a:endParaRPr lang="en-US" sz="1400" b="0" i="0">
                        <a:solidFill>
                          <a:srgbClr val="131313"/>
                        </a:solidFill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54497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Standard Bank</a:t>
                      </a:r>
                      <a:r>
                        <a:rPr lang="en-US" sz="1200" b="0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0" i="0">
                        <a:solidFill>
                          <a:srgbClr val="131313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571" rtl="0" eaLnBrk="1" fontAlgn="base" latinLnBrk="0" hangingPunct="1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✓​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571" rtl="0" eaLnBrk="1" fontAlgn="base" latinLnBrk="0" hangingPunct="1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Do not have predictive balance forecasting​</a:t>
                      </a:r>
                      <a:endParaRPr lang="en-US" sz="1400" b="0" i="0">
                        <a:solidFill>
                          <a:srgbClr val="131313"/>
                        </a:solidFill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018747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Discovery Bank</a:t>
                      </a:r>
                      <a:r>
                        <a:rPr lang="en-US" sz="1200" b="0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0" i="0">
                        <a:solidFill>
                          <a:srgbClr val="131313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✓​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ZA" sz="1100" b="0" i="0">
                          <a:effectLst/>
                          <a:latin typeface="FNB Sans Light" panose="02000000000000000000" pitchFamily="50" charset="0"/>
                        </a:rPr>
                        <a:t>Do not integrate alerts into their budgeting engine nor have any balance forecasting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37604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ABSA</a:t>
                      </a:r>
                      <a:r>
                        <a:rPr lang="en-US" sz="1200" b="0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0" i="0">
                        <a:solidFill>
                          <a:srgbClr val="131313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✗​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✗​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ZA" sz="1100" b="0" i="0">
                          <a:effectLst/>
                          <a:latin typeface="FNB Sans Light" panose="02000000000000000000" pitchFamily="50" charset="0"/>
                        </a:rPr>
                        <a:t>Supports savings management, not budgeting with proactive or predictive elements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98406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Nedbank</a:t>
                      </a:r>
                      <a:r>
                        <a:rPr lang="en-US" sz="1200" b="0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0" i="0">
                        <a:solidFill>
                          <a:srgbClr val="131313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✗​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△​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?​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b="0" i="0">
                          <a:effectLst/>
                          <a:latin typeface="FNB Sans Light" panose="02000000000000000000" pitchFamily="50" charset="0"/>
                        </a:rPr>
                        <a:t>No proactive or predictive elements</a:t>
                      </a:r>
                      <a:r>
                        <a:rPr lang="en-US" sz="1600" b="0" i="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​</a:t>
                      </a:r>
                      <a:endParaRPr lang="en-US" sz="2000" b="0" i="0">
                        <a:solidFill>
                          <a:srgbClr val="131313"/>
                        </a:solidFill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5078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Capitec</a:t>
                      </a:r>
                      <a:r>
                        <a:rPr lang="en-US" sz="1200" b="0" i="0">
                          <a:solidFill>
                            <a:srgbClr val="131313"/>
                          </a:solidFill>
                          <a:effectLst/>
                          <a:latin typeface="FNB Sans Regular" panose="02000000000000000000" pitchFamily="50" charset="0"/>
                        </a:rPr>
                        <a:t>​</a:t>
                      </a:r>
                      <a:endParaRPr lang="en-US" sz="1600" b="0" i="0">
                        <a:solidFill>
                          <a:srgbClr val="131313"/>
                        </a:solidFill>
                        <a:effectLst/>
                        <a:latin typeface="FNB Sans Regular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✗​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✗​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31313"/>
                          </a:solidFill>
                          <a:effectLst/>
                          <a:latin typeface="Neue Haas Grotesk Text Pro" panose="020F0502020204030204" pitchFamily="34" charset="0"/>
                        </a:rPr>
                        <a:t>✗​</a:t>
                      </a:r>
                      <a:endParaRPr lang="en-US" sz="1200" b="1" i="0">
                        <a:solidFill>
                          <a:srgbClr val="131313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No money management tools​</a:t>
                      </a:r>
                      <a:endParaRPr lang="en-US" sz="1400" b="0" i="0">
                        <a:solidFill>
                          <a:srgbClr val="131313"/>
                        </a:solidFill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541692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897EA9D3-B218-942D-4388-81A95A84B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988" y="1628775"/>
            <a:ext cx="1216818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862ABF2-C4E8-D83A-5E2B-0881B83C9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992810"/>
              </p:ext>
            </p:extLst>
          </p:nvPr>
        </p:nvGraphicFramePr>
        <p:xfrm>
          <a:off x="3527505" y="5674105"/>
          <a:ext cx="4321015" cy="59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03">
                  <a:extLst>
                    <a:ext uri="{9D8B030D-6E8A-4147-A177-3AD203B41FA5}">
                      <a16:colId xmlns:a16="http://schemas.microsoft.com/office/drawing/2014/main" val="3828999146"/>
                    </a:ext>
                  </a:extLst>
                </a:gridCol>
                <a:gridCol w="864203">
                  <a:extLst>
                    <a:ext uri="{9D8B030D-6E8A-4147-A177-3AD203B41FA5}">
                      <a16:colId xmlns:a16="http://schemas.microsoft.com/office/drawing/2014/main" val="2749774957"/>
                    </a:ext>
                  </a:extLst>
                </a:gridCol>
                <a:gridCol w="864203">
                  <a:extLst>
                    <a:ext uri="{9D8B030D-6E8A-4147-A177-3AD203B41FA5}">
                      <a16:colId xmlns:a16="http://schemas.microsoft.com/office/drawing/2014/main" val="3338251408"/>
                    </a:ext>
                  </a:extLst>
                </a:gridCol>
                <a:gridCol w="864203">
                  <a:extLst>
                    <a:ext uri="{9D8B030D-6E8A-4147-A177-3AD203B41FA5}">
                      <a16:colId xmlns:a16="http://schemas.microsoft.com/office/drawing/2014/main" val="2154098961"/>
                    </a:ext>
                  </a:extLst>
                </a:gridCol>
                <a:gridCol w="864203">
                  <a:extLst>
                    <a:ext uri="{9D8B030D-6E8A-4147-A177-3AD203B41FA5}">
                      <a16:colId xmlns:a16="http://schemas.microsoft.com/office/drawing/2014/main" val="3022206709"/>
                    </a:ext>
                  </a:extLst>
                </a:gridCol>
              </a:tblGrid>
              <a:tr h="370950">
                <a:tc rowSpan="2"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ZA" sz="1100" b="1" i="0" u="none" strike="noStrike">
                          <a:effectLst/>
                          <a:latin typeface="FNB Sans Light" panose="02000000000000000000" pitchFamily="50" charset="0"/>
                        </a:rPr>
                        <a:t>KEY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ZA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FNB Sans Light" panose="02000000000000000000" pitchFamily="50" charset="0"/>
                        </a:rPr>
                        <a:t>STRONG CAPABILITY</a:t>
                      </a:r>
                      <a:endParaRPr lang="en-ZA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ZA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FNB Sans Light" panose="02000000000000000000" pitchFamily="50" charset="0"/>
                        </a:rPr>
                        <a:t>PARTIAL CAPABILITY </a:t>
                      </a:r>
                      <a:endParaRPr lang="en-ZA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ZA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FNB Sans Light" panose="02000000000000000000" pitchFamily="50" charset="0"/>
                        </a:rPr>
                        <a:t>NOT OFFERED</a:t>
                      </a:r>
                      <a:endParaRPr lang="en-ZA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en-ZA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FNB Sans Light" panose="02000000000000000000" pitchFamily="50" charset="0"/>
                        </a:rPr>
                        <a:t>NOT KNOWN</a:t>
                      </a:r>
                      <a:endParaRPr lang="en-ZA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17482077"/>
                  </a:ext>
                </a:extLst>
              </a:tr>
              <a:tr h="222570">
                <a:tc vMerge="1"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endParaRPr lang="en-US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✓​</a:t>
                      </a:r>
                      <a:endParaRPr lang="en-US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△​</a:t>
                      </a:r>
                      <a:endParaRPr lang="en-US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✗​</a:t>
                      </a:r>
                      <a:endParaRPr lang="en-US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900" b="1" i="0" u="none" strike="noStrike" kern="1200">
                          <a:solidFill>
                            <a:srgbClr val="131313"/>
                          </a:solidFill>
                          <a:effectLst/>
                          <a:latin typeface="FNB Sans Light" panose="02000000000000000000" pitchFamily="50" charset="0"/>
                        </a:rPr>
                        <a:t>?​</a:t>
                      </a:r>
                      <a:endParaRPr lang="en-US" sz="1100" b="0" i="0" u="none" strike="noStrike">
                        <a:effectLst/>
                        <a:latin typeface="FNB Sans Light" panose="02000000000000000000" pitchFamily="50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00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87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7531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F479A-0346-498F-6228-CBEBDCFE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29B3-30D5-71D9-02A3-0AB8C1C1F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04E2F-E441-AB98-AB7E-61476EC0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 descr="A diagram of a financial support&#10;&#10;AI-generated content may be incorrect.">
            <a:extLst>
              <a:ext uri="{FF2B5EF4-FFF2-40B4-BE49-F238E27FC236}">
                <a16:creationId xmlns:a16="http://schemas.microsoft.com/office/drawing/2014/main" id="{1C83BC07-D674-BE53-4A91-EA2DF022FF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28"/>
          <a:stretch>
            <a:fillRect/>
          </a:stretch>
        </p:blipFill>
        <p:spPr>
          <a:xfrm>
            <a:off x="741930" y="1691640"/>
            <a:ext cx="9892165" cy="45178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70FF45-B9B9-66D1-C045-CE2BBED99B2A}"/>
              </a:ext>
            </a:extLst>
          </p:cNvPr>
          <p:cNvSpPr txBox="1"/>
          <p:nvPr/>
        </p:nvSpPr>
        <p:spPr>
          <a:xfrm>
            <a:off x="1258411" y="744447"/>
            <a:ext cx="8859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b="1">
                <a:solidFill>
                  <a:srgbClr val="004750"/>
                </a:solidFill>
                <a:latin typeface="FNB Sans Regular" panose="02000000000000000000" pitchFamily="50" charset="0"/>
              </a:rPr>
              <a:t>IDEAS LIKE THESE CONTINUE TO POSITION FNB AS A FORERUNNER IN PERSONALISED BANKING</a:t>
            </a:r>
          </a:p>
        </p:txBody>
      </p:sp>
    </p:spTree>
    <p:extLst>
      <p:ext uri="{BB962C8B-B14F-4D97-AF65-F5344CB8AC3E}">
        <p14:creationId xmlns:p14="http://schemas.microsoft.com/office/powerpoint/2010/main" val="2443369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4A05-7479-2573-A911-847D5590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A45C-81EB-7C9F-ED88-968A9C08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FNB Sans Regular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10A2-A73B-6EA5-39F3-32BED706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FNB Sans Regular"/>
              </a:rPr>
              <a:t>Customer benefits:</a:t>
            </a: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Early visibility of upcoming debit orders and potential shortfalls.</a:t>
            </a:r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Reduced penalty fees and failed payments.</a:t>
            </a: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Improved financial control and planning.</a:t>
            </a: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Responsible, contextual financial support.</a:t>
            </a: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  <a:p>
            <a:pPr marL="0" indent="0">
              <a:buNone/>
            </a:pPr>
            <a:r>
              <a:rPr lang="en-US">
                <a:latin typeface="FNB Sans Regular"/>
              </a:rPr>
              <a:t>Bank benefits:</a:t>
            </a:r>
            <a:endParaRPr lang="en-US"/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 Increased debit order success rates.</a:t>
            </a:r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 Reduced disputes and operational costs.</a:t>
            </a:r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 Improved customer satisfaction, trust and retention.</a:t>
            </a:r>
          </a:p>
          <a:p>
            <a:pPr marL="227965" indent="-227965">
              <a:buFont typeface="Wingdings"/>
              <a:buChar char="v"/>
            </a:pPr>
            <a:r>
              <a:rPr lang="en-US">
                <a:latin typeface="FNB Sans Regular"/>
              </a:rPr>
              <a:t> Stronger revenue protection and liquidity stability.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C9D71-E550-66EF-8A5A-92DB9BCE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00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F3E4-2818-E1EF-36A1-FD6C139F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FNB Sans Regular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1F1F3-1563-18B2-FE40-D54D2F263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FNB Sans Regular"/>
              </a:rPr>
              <a:t>Final strategic recommendation:</a:t>
            </a:r>
            <a:endParaRPr lang="en-US"/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Pilot PaySure within the FNB digital ecosystem.</a:t>
            </a:r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Leverage predictive insights to prevent payment failures.</a:t>
            </a:r>
          </a:p>
          <a:p>
            <a:pPr marL="227965" indent="-227965">
              <a:buFont typeface="Wingdings" panose="020B0604020202020204" pitchFamily="34" charset="0"/>
              <a:buChar char="v"/>
            </a:pPr>
            <a:r>
              <a:rPr lang="en-US">
                <a:latin typeface="FNB Sans Regular"/>
              </a:rPr>
              <a:t> Position FNB as a leader in predictive financial intelligence.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D72A4-F797-14D2-19EE-61CF3E44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56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03C3A5-F258-BD06-51C8-4546BC0879AD}"/>
              </a:ext>
            </a:extLst>
          </p:cNvPr>
          <p:cNvSpPr/>
          <p:nvPr/>
        </p:nvSpPr>
        <p:spPr>
          <a:xfrm>
            <a:off x="589915" y="1750555"/>
            <a:ext cx="5797550" cy="3356891"/>
          </a:xfrm>
          <a:prstGeom prst="rect">
            <a:avLst/>
          </a:prstGeom>
          <a:solidFill>
            <a:srgbClr val="B0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43D6B5-D3E8-4AF5-3E4D-921376D37AF8}"/>
              </a:ext>
            </a:extLst>
          </p:cNvPr>
          <p:cNvSpPr/>
          <p:nvPr/>
        </p:nvSpPr>
        <p:spPr>
          <a:xfrm>
            <a:off x="6386671" y="1750554"/>
            <a:ext cx="3024188" cy="3356891"/>
          </a:xfrm>
          <a:prstGeom prst="rect">
            <a:avLst/>
          </a:prstGeom>
          <a:solidFill>
            <a:srgbClr val="B0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E3AE15-0459-9A70-481D-0277BE51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BDA9-90FC-2A40-830F-3B66534910D7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0C38A6AC-109B-8899-B8BD-6275A9F9C6B1}"/>
              </a:ext>
            </a:extLst>
          </p:cNvPr>
          <p:cNvSpPr txBox="1">
            <a:spLocks/>
          </p:cNvSpPr>
          <p:nvPr/>
        </p:nvSpPr>
        <p:spPr>
          <a:xfrm>
            <a:off x="6639878" y="3496575"/>
            <a:ext cx="2266950" cy="1269561"/>
          </a:xfrm>
          <a:prstGeom prst="rect">
            <a:avLst/>
          </a:prstGeom>
        </p:spPr>
        <p:txBody>
          <a:bodyPr vert="horz" lIns="0" tIns="0" rIns="0" bIns="0" rtlCol="0" anchor="t">
            <a:normAutofit fontScale="97500"/>
          </a:bodyPr>
          <a:lstStyle>
            <a:lvl1pPr algn="l" defTabSz="912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kern="1200">
                <a:solidFill>
                  <a:schemeClr val="tx1"/>
                </a:solidFill>
                <a:latin typeface="FNB Sans Regular" panose="02000000000000000000" pitchFamily="2" charset="0"/>
                <a:ea typeface="+mj-ea"/>
                <a:cs typeface="+mj-cs"/>
              </a:defRPr>
            </a:lvl1pPr>
          </a:lstStyle>
          <a:p>
            <a:pPr>
              <a:lnSpc>
                <a:spcPts val="1600"/>
              </a:lnSpc>
            </a:pPr>
            <a:r>
              <a:rPr lang="en-US" sz="3200" b="1">
                <a:solidFill>
                  <a:srgbClr val="004750"/>
                </a:solidFill>
                <a:latin typeface="FNB Sans Regular"/>
              </a:rPr>
              <a:t>THANK YOU.</a:t>
            </a:r>
            <a:endParaRPr lang="en-US" sz="3200" b="1">
              <a:solidFill>
                <a:srgbClr val="004750"/>
              </a:solidFill>
            </a:endParaRPr>
          </a:p>
          <a:p>
            <a:pPr>
              <a:lnSpc>
                <a:spcPts val="1600"/>
              </a:lnSpc>
            </a:pPr>
            <a:endParaRPr lang="en-US" sz="3200" b="1">
              <a:solidFill>
                <a:srgbClr val="004750"/>
              </a:solidFill>
              <a:latin typeface="FNB Sans Regular"/>
            </a:endParaRPr>
          </a:p>
          <a:p>
            <a:pPr>
              <a:lnSpc>
                <a:spcPts val="1600"/>
              </a:lnSpc>
            </a:pPr>
            <a:endParaRPr lang="en-US" sz="3200" b="1">
              <a:solidFill>
                <a:srgbClr val="004750"/>
              </a:solidFill>
              <a:latin typeface="FNB Sans Regular"/>
            </a:endParaRPr>
          </a:p>
          <a:p>
            <a:pPr>
              <a:lnSpc>
                <a:spcPts val="1600"/>
              </a:lnSpc>
            </a:pPr>
            <a:endParaRPr lang="en-US" sz="3200" b="1">
              <a:solidFill>
                <a:srgbClr val="004750"/>
              </a:solidFill>
              <a:latin typeface="FNB Sans Regular"/>
            </a:endParaRPr>
          </a:p>
          <a:p>
            <a:pPr>
              <a:lnSpc>
                <a:spcPts val="1600"/>
              </a:lnSpc>
            </a:pPr>
            <a:r>
              <a:rPr lang="en-US" sz="3200" b="1">
                <a:solidFill>
                  <a:srgbClr val="004750"/>
                </a:solidFill>
                <a:latin typeface="FNB Sans Regular"/>
              </a:rPr>
              <a:t>QUESTIONS?</a:t>
            </a:r>
          </a:p>
        </p:txBody>
      </p:sp>
      <p:pic>
        <p:nvPicPr>
          <p:cNvPr id="11" name="Picture 10" descr="A person holding a phone&#10;&#10;AI-generated content may be incorrect.">
            <a:extLst>
              <a:ext uri="{FF2B5EF4-FFF2-40B4-BE49-F238E27FC236}">
                <a16:creationId xmlns:a16="http://schemas.microsoft.com/office/drawing/2014/main" id="{E9920934-9E20-91E9-69A5-ED5F50B8B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15" y="1750554"/>
            <a:ext cx="5754670" cy="335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17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EEB7-396E-03DD-A81C-2E937C33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19ED8072-34B7-1778-3633-4EF600661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/>
              <a:t>CEO PROJECT 2026</a:t>
            </a:r>
          </a:p>
        </p:txBody>
      </p:sp>
      <p:sp>
        <p:nvSpPr>
          <p:cNvPr id="34" name="Subtitle 33">
            <a:extLst>
              <a:ext uri="{FF2B5EF4-FFF2-40B4-BE49-F238E27FC236}">
                <a16:creationId xmlns:a16="http://schemas.microsoft.com/office/drawing/2014/main" id="{BE0EB88E-57EB-869E-5F3D-24978CEE4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GROUP 22</a:t>
            </a:r>
          </a:p>
        </p:txBody>
      </p:sp>
      <p:pic>
        <p:nvPicPr>
          <p:cNvPr id="7" name="Picture 6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450ED3F0-4F89-12A9-9D70-F984F900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2413000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90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NB_PPT_Template[41]  -  Read-Only" id="{B8B95560-F368-43CB-B573-2F3F189A2BA2}" vid="{A2F0B014-C5AC-4922-B0C2-8228838923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ffde191-0aa8-480d-be91-0d9637b86e08">
      <UserInfo>
        <DisplayName>van Dayar, Dawn</DisplayName>
        <AccountId>10145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25BA60C92D7D4BB0825376DC1C299D" ma:contentTypeVersion="7" ma:contentTypeDescription="Create a new document." ma:contentTypeScope="" ma:versionID="fcf1a668398da12216675144389ad60f">
  <xsd:schema xmlns:xsd="http://www.w3.org/2001/XMLSchema" xmlns:xs="http://www.w3.org/2001/XMLSchema" xmlns:p="http://schemas.microsoft.com/office/2006/metadata/properties" xmlns:ns2="9bee9ab9-304b-4be4-b514-747a267b7515" xmlns:ns3="cffde191-0aa8-480d-be91-0d9637b86e08" targetNamespace="http://schemas.microsoft.com/office/2006/metadata/properties" ma:root="true" ma:fieldsID="fa56af16980fe9c8963b09676fa2e0d1" ns2:_="" ns3:_="">
    <xsd:import namespace="9bee9ab9-304b-4be4-b514-747a267b7515"/>
    <xsd:import namespace="cffde191-0aa8-480d-be91-0d9637b86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e9ab9-304b-4be4-b514-747a267b75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fde191-0aa8-480d-be91-0d9637b86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F51032-3B99-49F0-9936-5B1D90912AE0}">
  <ds:schemaRefs>
    <ds:schemaRef ds:uri="9bee9ab9-304b-4be4-b514-747a267b7515"/>
    <ds:schemaRef ds:uri="cffde191-0aa8-480d-be91-0d9637b86e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142E73E-2F70-4C98-B538-514887401306}">
  <ds:schemaRefs>
    <ds:schemaRef ds:uri="9bee9ab9-304b-4be4-b514-747a267b7515"/>
    <ds:schemaRef ds:uri="cffde191-0aa8-480d-be91-0d9637b86e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C1786A7-EFF2-4369-B1F2-23D45F0613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CEO Project Slides</Template>
  <Application>Microsoft Office PowerPoint</Application>
  <PresentationFormat>Custom</PresentationFormat>
  <Slides>38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PaySure = Predict → Protect → Optimise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  <vt:lpstr>PowerPoint Presentation</vt:lpstr>
      <vt:lpstr>CEO PROJECT 2026</vt:lpstr>
    </vt:vector>
  </TitlesOfParts>
  <Company>FirstRand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Matodzi, Mulisa</dc:creator>
  <cp:revision>3</cp:revision>
  <dcterms:created xsi:type="dcterms:W3CDTF">2026-02-15T19:40:00Z</dcterms:created>
  <dcterms:modified xsi:type="dcterms:W3CDTF">2026-02-18T15:56:44Z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0x0101006C25BA60C92D7D4BB0825376DC1C299D</vt:lpwstr>
  </property>
  <property fmtid="{D5CDD505-2E9C-101B-9397-08002B2CF9AE}" pid="3" name="MSIP_Label_216eec4e-c7b8-491d-b7d8-90a69632743d_Enabled">
    <vt:lpwstr>true</vt:lpwstr>
  </property>
  <property fmtid="{D5CDD505-2E9C-101B-9397-08002B2CF9AE}" pid="4" name="MSIP_Label_216eec4e-c7b8-491d-b7d8-90a69632743d_SetDate">
    <vt:lpwstr>2026-02-15T19:18:30Z</vt:lpwstr>
  </property>
  <property fmtid="{D5CDD505-2E9C-101B-9397-08002B2CF9AE}" pid="5" name="MSIP_Label_216eec4e-c7b8-491d-b7d8-90a69632743d_Method">
    <vt:lpwstr>Standard</vt:lpwstr>
  </property>
  <property fmtid="{D5CDD505-2E9C-101B-9397-08002B2CF9AE}" pid="6" name="MSIP_Label_216eec4e-c7b8-491d-b7d8-90a69632743d_Name">
    <vt:lpwstr>216eec4e-c7b8-491d-b7d8-90a69632743d</vt:lpwstr>
  </property>
  <property fmtid="{D5CDD505-2E9C-101B-9397-08002B2CF9AE}" pid="7" name="MSIP_Label_216eec4e-c7b8-491d-b7d8-90a69632743d_SiteId">
    <vt:lpwstr>4032514a-830a-4f20-9539-81bbc35b3cd9</vt:lpwstr>
  </property>
  <property fmtid="{D5CDD505-2E9C-101B-9397-08002B2CF9AE}" pid="8" name="MSIP_Label_216eec4e-c7b8-491d-b7d8-90a69632743d_ActionId">
    <vt:lpwstr>c42961dc-1775-4b77-a98b-70c87af30754</vt:lpwstr>
  </property>
  <property fmtid="{D5CDD505-2E9C-101B-9397-08002B2CF9AE}" pid="9" name="MSIP_Label_216eec4e-c7b8-491d-b7d8-90a69632743d_ContentBits">
    <vt:lpwstr>0</vt:lpwstr>
  </property>
  <property fmtid="{D5CDD505-2E9C-101B-9397-08002B2CF9AE}" pid="10" name="MSIP_Label_216eec4e-c7b8-491d-b7d8-90a69632743d_Tag">
    <vt:lpwstr>10, 3, 0, 1</vt:lpwstr>
  </property>
</Properties>
</file>