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4"/>
  </p:sldMasterIdLst>
  <p:notesMasterIdLst>
    <p:notesMasterId r:id="rId15"/>
  </p:notesMasterIdLst>
  <p:sldIdLst>
    <p:sldId id="256" r:id="rId5"/>
    <p:sldId id="2147376713" r:id="rId6"/>
    <p:sldId id="2147376705" r:id="rId7"/>
    <p:sldId id="2147376724" r:id="rId8"/>
    <p:sldId id="2147376734" r:id="rId9"/>
    <p:sldId id="2147376727" r:id="rId10"/>
    <p:sldId id="2147376723" r:id="rId11"/>
    <p:sldId id="2147376729" r:id="rId12"/>
    <p:sldId id="2147376731" r:id="rId13"/>
    <p:sldId id="214737673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userDrawn="1">
          <p15:clr>
            <a:srgbClr val="A4A3A4"/>
          </p15:clr>
        </p15:guide>
        <p15:guide id="3" orient="horz" pos="2160">
          <p15:clr>
            <a:srgbClr val="A4A3A4"/>
          </p15:clr>
        </p15:guide>
        <p15:guide id="4" pos="76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36A1A0D-FB05-4B9C-8280-6DDFEEA602C6}" name="Watkins De Villiers, Nicole" initials="WN" userId="S::f3577414@fnb.co.za::5a26e192-9c8f-40fe-b252-565dbb2c412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8303D"/>
    <a:srgbClr val="F0F0F0"/>
    <a:srgbClr val="B3B3B5"/>
    <a:srgbClr val="CACACC"/>
    <a:srgbClr val="20E8C7"/>
    <a:srgbClr val="F4C58C"/>
    <a:srgbClr val="09594C"/>
    <a:srgbClr val="9FFDFF"/>
    <a:srgbClr val="00AAAD"/>
    <a:srgbClr val="ECA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0ACE2F-349B-4846-BDC4-2D8EA297E541}" v="2" dt="2026-03-11T14:31:02.6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4772" autoAdjust="0"/>
  </p:normalViewPr>
  <p:slideViewPr>
    <p:cSldViewPr snapToGrid="0" snapToObjects="1" showGuides="1">
      <p:cViewPr varScale="1">
        <p:scale>
          <a:sx n="94" d="100"/>
          <a:sy n="94" d="100"/>
        </p:scale>
        <p:origin x="1194" y="78"/>
      </p:cViewPr>
      <p:guideLst>
        <p:guide/>
        <p:guide orient="horz" pos="2160"/>
        <p:guide pos="768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51E27-F8AC-BB49-AF6D-4EBB1D8E3EFA}"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FC3393-FCBF-804B-87BC-EB967A6FB964}" type="slidenum">
              <a:rPr lang="en-US" smtClean="0"/>
              <a:t>‹#›</a:t>
            </a:fld>
            <a:endParaRPr lang="en-US"/>
          </a:p>
        </p:txBody>
      </p:sp>
    </p:spTree>
    <p:extLst>
      <p:ext uri="{BB962C8B-B14F-4D97-AF65-F5344CB8AC3E}">
        <p14:creationId xmlns:p14="http://schemas.microsoft.com/office/powerpoint/2010/main" val="3995145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4FC3393-FCBF-804B-87BC-EB967A6FB964}" type="slidenum">
              <a:rPr lang="en-US" smtClean="0"/>
              <a:t>6</a:t>
            </a:fld>
            <a:endParaRPr lang="en-US"/>
          </a:p>
        </p:txBody>
      </p:sp>
    </p:spTree>
    <p:extLst>
      <p:ext uri="{BB962C8B-B14F-4D97-AF65-F5344CB8AC3E}">
        <p14:creationId xmlns:p14="http://schemas.microsoft.com/office/powerpoint/2010/main" val="2507588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4FC3393-FCBF-804B-87BC-EB967A6FB964}" type="slidenum">
              <a:rPr lang="en-US" smtClean="0"/>
              <a:t>8</a:t>
            </a:fld>
            <a:endParaRPr lang="en-US"/>
          </a:p>
        </p:txBody>
      </p:sp>
    </p:spTree>
    <p:extLst>
      <p:ext uri="{BB962C8B-B14F-4D97-AF65-F5344CB8AC3E}">
        <p14:creationId xmlns:p14="http://schemas.microsoft.com/office/powerpoint/2010/main" val="16160489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22_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438833-771C-DA1C-9FE7-8DF90843CC7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944703" y="4547287"/>
            <a:ext cx="8384447" cy="741405"/>
          </a:xfrm>
          <a:prstGeom prst="rect">
            <a:avLst/>
          </a:prstGeom>
          <a:effectLst>
            <a:outerShdw blurRad="50800" dist="109577" dir="2700000" algn="tl" rotWithShape="0">
              <a:prstClr val="black">
                <a:alpha val="40000"/>
              </a:prstClr>
            </a:outerShdw>
          </a:effectLst>
        </p:spPr>
      </p:pic>
      <p:pic>
        <p:nvPicPr>
          <p:cNvPr id="3" name="Picture 2">
            <a:extLst>
              <a:ext uri="{FF2B5EF4-FFF2-40B4-BE49-F238E27FC236}">
                <a16:creationId xmlns:a16="http://schemas.microsoft.com/office/drawing/2014/main" id="{D861CC17-C580-DFAF-2591-67C21CD61DF6}"/>
              </a:ext>
            </a:extLst>
          </p:cNvPr>
          <p:cNvPicPr>
            <a:picLocks noChangeAspect="1"/>
          </p:cNvPicPr>
          <p:nvPr userDrawn="1"/>
        </p:nvPicPr>
        <p:blipFill>
          <a:blip r:embed="rId3"/>
          <a:srcRect/>
          <a:stretch/>
        </p:blipFill>
        <p:spPr>
          <a:xfrm>
            <a:off x="-79789" y="-37429"/>
            <a:ext cx="12351578" cy="6947763"/>
          </a:xfrm>
          <a:prstGeom prst="rect">
            <a:avLst/>
          </a:prstGeom>
        </p:spPr>
      </p:pic>
      <p:pic>
        <p:nvPicPr>
          <p:cNvPr id="4" name="Picture 3">
            <a:extLst>
              <a:ext uri="{FF2B5EF4-FFF2-40B4-BE49-F238E27FC236}">
                <a16:creationId xmlns:a16="http://schemas.microsoft.com/office/drawing/2014/main" id="{F84AFCB6-AE4F-07D9-824C-A5418DDEF0C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944703" y="4364565"/>
            <a:ext cx="8384447" cy="741405"/>
          </a:xfrm>
          <a:prstGeom prst="rect">
            <a:avLst/>
          </a:prstGeom>
          <a:effectLst>
            <a:outerShdw blurRad="128301" dist="87405" dir="5400000" algn="t" rotWithShape="0">
              <a:prstClr val="black">
                <a:alpha val="40000"/>
              </a:prstClr>
            </a:outerShdw>
          </a:effectLst>
        </p:spPr>
      </p:pic>
      <p:pic>
        <p:nvPicPr>
          <p:cNvPr id="11" name="Picture 10">
            <a:extLst>
              <a:ext uri="{FF2B5EF4-FFF2-40B4-BE49-F238E27FC236}">
                <a16:creationId xmlns:a16="http://schemas.microsoft.com/office/drawing/2014/main" id="{FF4FA1BB-DBF1-91F9-E525-8C3A14431C29}"/>
              </a:ext>
            </a:extLst>
          </p:cNvPr>
          <p:cNvPicPr>
            <a:picLocks noChangeAspect="1"/>
          </p:cNvPicPr>
          <p:nvPr userDrawn="1"/>
        </p:nvPicPr>
        <p:blipFill>
          <a:blip r:embed="rId4"/>
          <a:srcRect l="1143" r="45133"/>
          <a:stretch/>
        </p:blipFill>
        <p:spPr>
          <a:xfrm>
            <a:off x="-144977" y="0"/>
            <a:ext cx="6240977" cy="6534374"/>
          </a:xfrm>
          <a:prstGeom prst="rect">
            <a:avLst/>
          </a:prstGeom>
          <a:effectLst>
            <a:outerShdw blurRad="225040" dist="53387" dir="8100000" algn="tr" rotWithShape="0">
              <a:prstClr val="black">
                <a:alpha val="64920"/>
              </a:prstClr>
            </a:outerShdw>
          </a:effectLst>
        </p:spPr>
      </p:pic>
    </p:spTree>
    <p:extLst>
      <p:ext uri="{BB962C8B-B14F-4D97-AF65-F5344CB8AC3E}">
        <p14:creationId xmlns:p14="http://schemas.microsoft.com/office/powerpoint/2010/main" val="143645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par>
                          <p:cTn id="8" fill="hold">
                            <p:stCondLst>
                              <p:cond delay="1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6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CB5C03-30EB-F661-4154-705357E7FF01}"/>
              </a:ext>
            </a:extLst>
          </p:cNvPr>
          <p:cNvPicPr>
            <a:picLocks noChangeAspect="1"/>
          </p:cNvPicPr>
          <p:nvPr userDrawn="1"/>
        </p:nvPicPr>
        <p:blipFill>
          <a:blip r:embed="rId2"/>
          <a:srcRect/>
          <a:stretch/>
        </p:blipFill>
        <p:spPr>
          <a:xfrm>
            <a:off x="-79789" y="-37429"/>
            <a:ext cx="12351578" cy="6947763"/>
          </a:xfrm>
          <a:prstGeom prst="rect">
            <a:avLst/>
          </a:prstGeom>
        </p:spPr>
      </p:pic>
      <p:sp>
        <p:nvSpPr>
          <p:cNvPr id="5" name="Title 1">
            <a:extLst>
              <a:ext uri="{FF2B5EF4-FFF2-40B4-BE49-F238E27FC236}">
                <a16:creationId xmlns:a16="http://schemas.microsoft.com/office/drawing/2014/main" id="{02FA5316-8DEE-5133-3C5A-E9EDFE92B58A}"/>
              </a:ext>
            </a:extLst>
          </p:cNvPr>
          <p:cNvSpPr>
            <a:spLocks noGrp="1"/>
          </p:cNvSpPr>
          <p:nvPr>
            <p:ph type="title" hasCustomPrompt="1"/>
          </p:nvPr>
        </p:nvSpPr>
        <p:spPr>
          <a:xfrm>
            <a:off x="615110" y="943052"/>
            <a:ext cx="8580507" cy="685941"/>
          </a:xfrm>
        </p:spPr>
        <p:txBody>
          <a:bodyPr anchor="t">
            <a:noAutofit/>
          </a:bodyPr>
          <a:lstStyle>
            <a:lvl1pPr>
              <a:defRPr sz="2800" b="1" i="0">
                <a:solidFill>
                  <a:schemeClr val="bg1"/>
                </a:solidFill>
                <a:latin typeface="Avenir Black" panose="02000503020000020003" pitchFamily="2" charset="0"/>
              </a:defRPr>
            </a:lvl1pPr>
          </a:lstStyle>
          <a:p>
            <a:r>
              <a:rPr lang="en-GB" dirty="0"/>
              <a:t>CLICK TO EDIT MASTER TITLE STYLE</a:t>
            </a:r>
            <a:endParaRPr lang="en-US" dirty="0"/>
          </a:p>
        </p:txBody>
      </p:sp>
      <p:pic>
        <p:nvPicPr>
          <p:cNvPr id="6" name="Picture 5">
            <a:extLst>
              <a:ext uri="{FF2B5EF4-FFF2-40B4-BE49-F238E27FC236}">
                <a16:creationId xmlns:a16="http://schemas.microsoft.com/office/drawing/2014/main" id="{18813D2B-5307-A281-D96B-54934A701D8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8846" y="6796216"/>
            <a:ext cx="12469717" cy="227137"/>
          </a:xfrm>
          <a:prstGeom prst="rect">
            <a:avLst/>
          </a:prstGeom>
          <a:effectLst>
            <a:outerShdw blurRad="50800" dist="38100" dir="2700000" algn="tl" rotWithShape="0">
              <a:prstClr val="black">
                <a:alpha val="40000"/>
              </a:prstClr>
            </a:outerShdw>
          </a:effectLst>
        </p:spPr>
      </p:pic>
      <p:pic>
        <p:nvPicPr>
          <p:cNvPr id="4" name="Picture 3">
            <a:extLst>
              <a:ext uri="{FF2B5EF4-FFF2-40B4-BE49-F238E27FC236}">
                <a16:creationId xmlns:a16="http://schemas.microsoft.com/office/drawing/2014/main" id="{CCB3F59B-9CA2-38F0-241F-8E1F6170989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8846" y="6808574"/>
            <a:ext cx="12323255" cy="224470"/>
          </a:xfrm>
          <a:prstGeom prst="rect">
            <a:avLst/>
          </a:prstGeom>
          <a:effectLst>
            <a:outerShdw blurRad="50800" dist="38100" dir="2700000" algn="tl" rotWithShape="0">
              <a:prstClr val="black">
                <a:alpha val="40000"/>
              </a:prstClr>
            </a:outerShdw>
          </a:effectLst>
        </p:spPr>
      </p:pic>
      <p:pic>
        <p:nvPicPr>
          <p:cNvPr id="3" name="Picture 2">
            <a:extLst>
              <a:ext uri="{FF2B5EF4-FFF2-40B4-BE49-F238E27FC236}">
                <a16:creationId xmlns:a16="http://schemas.microsoft.com/office/drawing/2014/main" id="{9B85F061-8C43-B150-76C4-AC2416A559F6}"/>
              </a:ext>
            </a:extLst>
          </p:cNvPr>
          <p:cNvPicPr>
            <a:picLocks noChangeAspect="1"/>
          </p:cNvPicPr>
          <p:nvPr userDrawn="1"/>
        </p:nvPicPr>
        <p:blipFill>
          <a:blip r:embed="rId4"/>
          <a:srcRect l="1143" r="45133"/>
          <a:stretch/>
        </p:blipFill>
        <p:spPr>
          <a:xfrm>
            <a:off x="10728870" y="2478485"/>
            <a:ext cx="1439318" cy="1506982"/>
          </a:xfrm>
          <a:prstGeom prst="rect">
            <a:avLst/>
          </a:prstGeom>
          <a:effectLst>
            <a:outerShdw blurRad="225040" dist="53387" dir="8100000" algn="tr" rotWithShape="0">
              <a:prstClr val="black">
                <a:alpha val="64920"/>
              </a:prstClr>
            </a:outerShdw>
          </a:effectLst>
        </p:spPr>
      </p:pic>
    </p:spTree>
    <p:extLst>
      <p:ext uri="{BB962C8B-B14F-4D97-AF65-F5344CB8AC3E}">
        <p14:creationId xmlns:p14="http://schemas.microsoft.com/office/powerpoint/2010/main" val="354526156"/>
      </p:ext>
    </p:extLst>
  </p:cSld>
  <p:clrMapOvr>
    <a:masterClrMapping/>
  </p:clrMapOvr>
  <p:extLst>
    <p:ext uri="{DCECCB84-F9BA-43D5-87BE-67443E8EF086}">
      <p15:sldGuideLst xmlns:p15="http://schemas.microsoft.com/office/powerpoint/2012/main">
        <p15:guide id="1" pos="386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25_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43E0B9E-825B-AA4F-B541-6FFDAE18343E}"/>
              </a:ext>
            </a:extLst>
          </p:cNvPr>
          <p:cNvSpPr/>
          <p:nvPr userDrawn="1"/>
        </p:nvSpPr>
        <p:spPr>
          <a:xfrm>
            <a:off x="-18846" y="0"/>
            <a:ext cx="12369509" cy="6858000"/>
          </a:xfrm>
          <a:prstGeom prst="rect">
            <a:avLst/>
          </a:prstGeom>
          <a:solidFill>
            <a:srgbClr val="DCC071">
              <a:alpha val="4998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itle 1">
            <a:extLst>
              <a:ext uri="{FF2B5EF4-FFF2-40B4-BE49-F238E27FC236}">
                <a16:creationId xmlns:a16="http://schemas.microsoft.com/office/drawing/2014/main" id="{C78FAA5A-F6D7-724F-9CC1-3B042713F928}"/>
              </a:ext>
            </a:extLst>
          </p:cNvPr>
          <p:cNvSpPr>
            <a:spLocks noGrp="1"/>
          </p:cNvSpPr>
          <p:nvPr>
            <p:ph type="title" hasCustomPrompt="1"/>
          </p:nvPr>
        </p:nvSpPr>
        <p:spPr>
          <a:xfrm>
            <a:off x="605170" y="744001"/>
            <a:ext cx="8580507" cy="685941"/>
          </a:xfrm>
        </p:spPr>
        <p:txBody>
          <a:bodyPr anchor="t">
            <a:noAutofit/>
          </a:bodyPr>
          <a:lstStyle>
            <a:lvl1pPr>
              <a:defRPr sz="2800" b="1" i="0">
                <a:solidFill>
                  <a:srgbClr val="5A5A5C"/>
                </a:solidFill>
                <a:latin typeface="Avenir Black" panose="02000503020000020003" pitchFamily="2" charset="0"/>
              </a:defRPr>
            </a:lvl1pPr>
          </a:lstStyle>
          <a:p>
            <a:r>
              <a:rPr lang="en-GB" dirty="0"/>
              <a:t>CLICK TO EDIT MASTER TITLE STYLE</a:t>
            </a:r>
            <a:endParaRPr lang="en-US" dirty="0"/>
          </a:p>
        </p:txBody>
      </p:sp>
      <p:pic>
        <p:nvPicPr>
          <p:cNvPr id="3" name="Picture 2" descr="A black background with a black square&#10;&#10;Description automatically generated">
            <a:extLst>
              <a:ext uri="{FF2B5EF4-FFF2-40B4-BE49-F238E27FC236}">
                <a16:creationId xmlns:a16="http://schemas.microsoft.com/office/drawing/2014/main" id="{01E1C851-6217-989E-64FB-C5FA009B9381}"/>
              </a:ext>
            </a:extLst>
          </p:cNvPr>
          <p:cNvPicPr>
            <a:picLocks noChangeAspect="1"/>
          </p:cNvPicPr>
          <p:nvPr/>
        </p:nvPicPr>
        <p:blipFill>
          <a:blip r:embed="rId2" cstate="screen">
            <a:alphaModFix amt="7000"/>
            <a:extLst>
              <a:ext uri="{28A0092B-C50C-407E-A947-70E740481C1C}">
                <a14:useLocalDpi xmlns:a14="http://schemas.microsoft.com/office/drawing/2010/main"/>
              </a:ext>
            </a:extLst>
          </a:blip>
          <a:stretch>
            <a:fillRect/>
          </a:stretch>
        </p:blipFill>
        <p:spPr>
          <a:xfrm>
            <a:off x="-47976" y="-60026"/>
            <a:ext cx="12239975" cy="6868600"/>
          </a:xfrm>
          <a:prstGeom prst="rect">
            <a:avLst/>
          </a:prstGeom>
        </p:spPr>
      </p:pic>
      <p:pic>
        <p:nvPicPr>
          <p:cNvPr id="4" name="Picture 3">
            <a:extLst>
              <a:ext uri="{FF2B5EF4-FFF2-40B4-BE49-F238E27FC236}">
                <a16:creationId xmlns:a16="http://schemas.microsoft.com/office/drawing/2014/main" id="{2E37D305-B83C-0405-2FB1-D8D15AE5A72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8846" y="6808574"/>
            <a:ext cx="12210845" cy="222422"/>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CE7CFCDE-7A88-92E4-2264-840F4EAB491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8846" y="6808574"/>
            <a:ext cx="12210845" cy="222422"/>
          </a:xfrm>
          <a:prstGeom prst="rect">
            <a:avLst/>
          </a:prstGeom>
          <a:effectLst>
            <a:outerShdw blurRad="50800" dist="38100" dir="2700000" algn="tl" rotWithShape="0">
              <a:prstClr val="black">
                <a:alpha val="40000"/>
              </a:prstClr>
            </a:outerShdw>
          </a:effectLst>
        </p:spPr>
      </p:pic>
      <p:pic>
        <p:nvPicPr>
          <p:cNvPr id="2" name="Picture 1">
            <a:extLst>
              <a:ext uri="{FF2B5EF4-FFF2-40B4-BE49-F238E27FC236}">
                <a16:creationId xmlns:a16="http://schemas.microsoft.com/office/drawing/2014/main" id="{96D9E4E7-930D-717C-B80E-E73105182154}"/>
              </a:ext>
            </a:extLst>
          </p:cNvPr>
          <p:cNvPicPr>
            <a:picLocks noChangeAspect="1"/>
          </p:cNvPicPr>
          <p:nvPr userDrawn="1"/>
        </p:nvPicPr>
        <p:blipFill>
          <a:blip r:embed="rId4"/>
          <a:srcRect l="1143" r="45133"/>
          <a:stretch/>
        </p:blipFill>
        <p:spPr>
          <a:xfrm>
            <a:off x="10728870" y="2478485"/>
            <a:ext cx="1439318" cy="1506982"/>
          </a:xfrm>
          <a:prstGeom prst="rect">
            <a:avLst/>
          </a:prstGeom>
          <a:effectLst>
            <a:outerShdw blurRad="225040" dist="53387" dir="8100000" algn="tr" rotWithShape="0">
              <a:prstClr val="black">
                <a:alpha val="64920"/>
              </a:prstClr>
            </a:outerShdw>
          </a:effectLst>
        </p:spPr>
      </p:pic>
    </p:spTree>
    <p:extLst>
      <p:ext uri="{BB962C8B-B14F-4D97-AF65-F5344CB8AC3E}">
        <p14:creationId xmlns:p14="http://schemas.microsoft.com/office/powerpoint/2010/main" val="8225036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9_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43E0B9E-825B-AA4F-B541-6FFDAE18343E}"/>
              </a:ext>
            </a:extLst>
          </p:cNvPr>
          <p:cNvSpPr/>
          <p:nvPr userDrawn="1"/>
        </p:nvSpPr>
        <p:spPr>
          <a:xfrm>
            <a:off x="-18846" y="0"/>
            <a:ext cx="12369509" cy="6858000"/>
          </a:xfrm>
          <a:prstGeom prst="rect">
            <a:avLst/>
          </a:prstGeom>
          <a:solidFill>
            <a:srgbClr val="DCC071">
              <a:alpha val="6879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itle 1">
            <a:extLst>
              <a:ext uri="{FF2B5EF4-FFF2-40B4-BE49-F238E27FC236}">
                <a16:creationId xmlns:a16="http://schemas.microsoft.com/office/drawing/2014/main" id="{C78FAA5A-F6D7-724F-9CC1-3B042713F928}"/>
              </a:ext>
            </a:extLst>
          </p:cNvPr>
          <p:cNvSpPr>
            <a:spLocks noGrp="1"/>
          </p:cNvSpPr>
          <p:nvPr>
            <p:ph type="title" hasCustomPrompt="1"/>
          </p:nvPr>
        </p:nvSpPr>
        <p:spPr>
          <a:xfrm>
            <a:off x="605170" y="744001"/>
            <a:ext cx="8580507" cy="685941"/>
          </a:xfrm>
        </p:spPr>
        <p:txBody>
          <a:bodyPr anchor="t">
            <a:noAutofit/>
          </a:bodyPr>
          <a:lstStyle>
            <a:lvl1pPr>
              <a:defRPr sz="2800" b="1" i="0">
                <a:solidFill>
                  <a:srgbClr val="5A5A5C"/>
                </a:solidFill>
                <a:latin typeface="Avenir Black" panose="02000503020000020003" pitchFamily="2" charset="0"/>
              </a:defRPr>
            </a:lvl1pPr>
          </a:lstStyle>
          <a:p>
            <a:r>
              <a:rPr lang="en-GB" dirty="0"/>
              <a:t>CLICK TO EDIT MASTER TITLE STYLE</a:t>
            </a:r>
            <a:endParaRPr lang="en-US" dirty="0"/>
          </a:p>
        </p:txBody>
      </p:sp>
      <p:pic>
        <p:nvPicPr>
          <p:cNvPr id="3" name="Picture 2" descr="A black background with a black square&#10;&#10;Description automatically generated">
            <a:extLst>
              <a:ext uri="{FF2B5EF4-FFF2-40B4-BE49-F238E27FC236}">
                <a16:creationId xmlns:a16="http://schemas.microsoft.com/office/drawing/2014/main" id="{01E1C851-6217-989E-64FB-C5FA009B9381}"/>
              </a:ext>
            </a:extLst>
          </p:cNvPr>
          <p:cNvPicPr>
            <a:picLocks noChangeAspect="1"/>
          </p:cNvPicPr>
          <p:nvPr/>
        </p:nvPicPr>
        <p:blipFill>
          <a:blip r:embed="rId2" cstate="screen">
            <a:alphaModFix amt="7000"/>
            <a:extLst>
              <a:ext uri="{28A0092B-C50C-407E-A947-70E740481C1C}">
                <a14:useLocalDpi xmlns:a14="http://schemas.microsoft.com/office/drawing/2010/main"/>
              </a:ext>
            </a:extLst>
          </a:blip>
          <a:stretch>
            <a:fillRect/>
          </a:stretch>
        </p:blipFill>
        <p:spPr>
          <a:xfrm>
            <a:off x="-47976" y="1290180"/>
            <a:ext cx="12239975" cy="6868600"/>
          </a:xfrm>
          <a:prstGeom prst="rect">
            <a:avLst/>
          </a:prstGeom>
        </p:spPr>
      </p:pic>
      <p:pic>
        <p:nvPicPr>
          <p:cNvPr id="4" name="Picture 3">
            <a:extLst>
              <a:ext uri="{FF2B5EF4-FFF2-40B4-BE49-F238E27FC236}">
                <a16:creationId xmlns:a16="http://schemas.microsoft.com/office/drawing/2014/main" id="{2E37D305-B83C-0405-2FB1-D8D15AE5A72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8846" y="6808574"/>
            <a:ext cx="12210845" cy="222422"/>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CE7CFCDE-7A88-92E4-2264-840F4EAB491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8846" y="6808574"/>
            <a:ext cx="12210845" cy="222422"/>
          </a:xfrm>
          <a:prstGeom prst="rect">
            <a:avLst/>
          </a:prstGeom>
          <a:effectLst>
            <a:outerShdw blurRad="50800" dist="38100" dir="2700000" algn="tl" rotWithShape="0">
              <a:prstClr val="black">
                <a:alpha val="40000"/>
              </a:prstClr>
            </a:outerShdw>
          </a:effectLst>
        </p:spPr>
      </p:pic>
      <p:pic>
        <p:nvPicPr>
          <p:cNvPr id="2" name="Picture 1">
            <a:extLst>
              <a:ext uri="{FF2B5EF4-FFF2-40B4-BE49-F238E27FC236}">
                <a16:creationId xmlns:a16="http://schemas.microsoft.com/office/drawing/2014/main" id="{7F4230D4-5EA6-D91B-954E-63A3A56500DB}"/>
              </a:ext>
            </a:extLst>
          </p:cNvPr>
          <p:cNvPicPr>
            <a:picLocks noChangeAspect="1"/>
          </p:cNvPicPr>
          <p:nvPr userDrawn="1"/>
        </p:nvPicPr>
        <p:blipFill>
          <a:blip r:embed="rId4"/>
          <a:srcRect l="1143" r="45133"/>
          <a:stretch/>
        </p:blipFill>
        <p:spPr>
          <a:xfrm>
            <a:off x="10728870" y="2478485"/>
            <a:ext cx="1439318" cy="1506982"/>
          </a:xfrm>
          <a:prstGeom prst="rect">
            <a:avLst/>
          </a:prstGeom>
          <a:effectLst>
            <a:outerShdw blurRad="225040" dist="53387" dir="8100000" algn="tr" rotWithShape="0">
              <a:prstClr val="black">
                <a:alpha val="64920"/>
              </a:prstClr>
            </a:outerShdw>
          </a:effectLst>
        </p:spPr>
      </p:pic>
    </p:spTree>
    <p:extLst>
      <p:ext uri="{BB962C8B-B14F-4D97-AF65-F5344CB8AC3E}">
        <p14:creationId xmlns:p14="http://schemas.microsoft.com/office/powerpoint/2010/main" val="124143054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621937-FB99-F0E4-FBF1-F16932E87021}"/>
              </a:ext>
            </a:extLst>
          </p:cNvPr>
          <p:cNvSpPr/>
          <p:nvPr userDrawn="1"/>
        </p:nvSpPr>
        <p:spPr>
          <a:xfrm>
            <a:off x="-18844" y="0"/>
            <a:ext cx="12210844" cy="6868600"/>
          </a:xfrm>
          <a:prstGeom prst="rect">
            <a:avLst/>
          </a:prstGeom>
          <a:solidFill>
            <a:srgbClr val="2841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ack background with a black square&#10;&#10;Description automatically generated">
            <a:extLst>
              <a:ext uri="{FF2B5EF4-FFF2-40B4-BE49-F238E27FC236}">
                <a16:creationId xmlns:a16="http://schemas.microsoft.com/office/drawing/2014/main" id="{D1615BFA-AD14-DCC1-410A-E30532961068}"/>
              </a:ext>
            </a:extLst>
          </p:cNvPr>
          <p:cNvPicPr>
            <a:picLocks noChangeAspect="1"/>
          </p:cNvPicPr>
          <p:nvPr userDrawn="1"/>
        </p:nvPicPr>
        <p:blipFill>
          <a:blip r:embed="rId2" cstate="screen">
            <a:alphaModFix amt="17000"/>
            <a:extLst>
              <a:ext uri="{28A0092B-C50C-407E-A947-70E740481C1C}">
                <a14:useLocalDpi xmlns:a14="http://schemas.microsoft.com/office/drawing/2010/main"/>
              </a:ext>
            </a:extLst>
          </a:blip>
          <a:stretch>
            <a:fillRect/>
          </a:stretch>
        </p:blipFill>
        <p:spPr>
          <a:xfrm>
            <a:off x="0" y="1025187"/>
            <a:ext cx="12210844" cy="6868600"/>
          </a:xfrm>
          <a:prstGeom prst="rect">
            <a:avLst/>
          </a:prstGeom>
        </p:spPr>
      </p:pic>
      <p:sp>
        <p:nvSpPr>
          <p:cNvPr id="43" name="Title 1">
            <a:extLst>
              <a:ext uri="{FF2B5EF4-FFF2-40B4-BE49-F238E27FC236}">
                <a16:creationId xmlns:a16="http://schemas.microsoft.com/office/drawing/2014/main" id="{C78FAA5A-F6D7-724F-9CC1-3B042713F928}"/>
              </a:ext>
            </a:extLst>
          </p:cNvPr>
          <p:cNvSpPr>
            <a:spLocks noGrp="1"/>
          </p:cNvSpPr>
          <p:nvPr>
            <p:ph type="title" hasCustomPrompt="1"/>
          </p:nvPr>
        </p:nvSpPr>
        <p:spPr>
          <a:xfrm>
            <a:off x="605170" y="682217"/>
            <a:ext cx="8580507" cy="685941"/>
          </a:xfrm>
        </p:spPr>
        <p:txBody>
          <a:bodyPr anchor="t">
            <a:noAutofit/>
          </a:bodyPr>
          <a:lstStyle>
            <a:lvl1pPr>
              <a:defRPr sz="2800" b="1" i="0">
                <a:solidFill>
                  <a:schemeClr val="bg1"/>
                </a:solidFill>
                <a:latin typeface="Avenir Black" panose="02000503020000020003" pitchFamily="2" charset="0"/>
              </a:defRPr>
            </a:lvl1pPr>
          </a:lstStyle>
          <a:p>
            <a:r>
              <a:rPr lang="en-GB" dirty="0"/>
              <a:t>CLICK TO EDIT MASTER TITLE STYLE</a:t>
            </a:r>
            <a:endParaRPr lang="en-US" dirty="0"/>
          </a:p>
        </p:txBody>
      </p:sp>
      <p:pic>
        <p:nvPicPr>
          <p:cNvPr id="4" name="Picture 3">
            <a:extLst>
              <a:ext uri="{FF2B5EF4-FFF2-40B4-BE49-F238E27FC236}">
                <a16:creationId xmlns:a16="http://schemas.microsoft.com/office/drawing/2014/main" id="{47EB81AB-9559-B163-6771-89639791181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8846" y="6808574"/>
            <a:ext cx="12210845" cy="222422"/>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0476C6F2-E3B4-B38C-11C3-388DFC7F7A1A}"/>
              </a:ext>
            </a:extLst>
          </p:cNvPr>
          <p:cNvPicPr>
            <a:picLocks noChangeAspect="1"/>
          </p:cNvPicPr>
          <p:nvPr userDrawn="1"/>
        </p:nvPicPr>
        <p:blipFill>
          <a:blip r:embed="rId4"/>
          <a:srcRect l="1143" r="45133"/>
          <a:stretch/>
        </p:blipFill>
        <p:spPr>
          <a:xfrm>
            <a:off x="10728870" y="2478485"/>
            <a:ext cx="1439318" cy="1506982"/>
          </a:xfrm>
          <a:prstGeom prst="rect">
            <a:avLst/>
          </a:prstGeom>
          <a:effectLst>
            <a:outerShdw blurRad="225040" dist="53387" dir="8100000" algn="tr" rotWithShape="0">
              <a:prstClr val="black">
                <a:alpha val="64920"/>
              </a:prstClr>
            </a:outerShdw>
          </a:effectLst>
        </p:spPr>
      </p:pic>
    </p:spTree>
    <p:extLst>
      <p:ext uri="{BB962C8B-B14F-4D97-AF65-F5344CB8AC3E}">
        <p14:creationId xmlns:p14="http://schemas.microsoft.com/office/powerpoint/2010/main" val="16881045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3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B8C566-2A85-C1FC-BCC9-4FF89A49807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944703" y="4547287"/>
            <a:ext cx="8384447" cy="741405"/>
          </a:xfrm>
          <a:prstGeom prst="rect">
            <a:avLst/>
          </a:prstGeom>
          <a:effectLst>
            <a:outerShdw blurRad="50800" dist="109577" dir="2700000" algn="tl" rotWithShape="0">
              <a:prstClr val="black">
                <a:alpha val="40000"/>
              </a:prstClr>
            </a:outerShdw>
          </a:effectLst>
        </p:spPr>
      </p:pic>
      <p:pic>
        <p:nvPicPr>
          <p:cNvPr id="7" name="Picture 6">
            <a:extLst>
              <a:ext uri="{FF2B5EF4-FFF2-40B4-BE49-F238E27FC236}">
                <a16:creationId xmlns:a16="http://schemas.microsoft.com/office/drawing/2014/main" id="{74135295-E1FA-3F3E-1E03-4D0D1E9A6E29}"/>
              </a:ext>
            </a:extLst>
          </p:cNvPr>
          <p:cNvPicPr>
            <a:picLocks noChangeAspect="1"/>
          </p:cNvPicPr>
          <p:nvPr userDrawn="1"/>
        </p:nvPicPr>
        <p:blipFill>
          <a:blip r:embed="rId3"/>
          <a:srcRect/>
          <a:stretch/>
        </p:blipFill>
        <p:spPr>
          <a:xfrm>
            <a:off x="-79789" y="-37429"/>
            <a:ext cx="12351578" cy="6947763"/>
          </a:xfrm>
          <a:prstGeom prst="rect">
            <a:avLst/>
          </a:prstGeom>
        </p:spPr>
      </p:pic>
      <p:pic>
        <p:nvPicPr>
          <p:cNvPr id="8" name="Picture 7">
            <a:extLst>
              <a:ext uri="{FF2B5EF4-FFF2-40B4-BE49-F238E27FC236}">
                <a16:creationId xmlns:a16="http://schemas.microsoft.com/office/drawing/2014/main" id="{49AB94AB-6761-EBC5-736B-CDC07813E56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944703" y="4364565"/>
            <a:ext cx="8384447" cy="741405"/>
          </a:xfrm>
          <a:prstGeom prst="rect">
            <a:avLst/>
          </a:prstGeom>
          <a:effectLst>
            <a:outerShdw blurRad="128301" dist="87405" dir="5400000" algn="t" rotWithShape="0">
              <a:prstClr val="black">
                <a:alpha val="40000"/>
              </a:prstClr>
            </a:outerShdw>
          </a:effectLst>
        </p:spPr>
      </p:pic>
      <p:pic>
        <p:nvPicPr>
          <p:cNvPr id="9" name="Picture 8">
            <a:extLst>
              <a:ext uri="{FF2B5EF4-FFF2-40B4-BE49-F238E27FC236}">
                <a16:creationId xmlns:a16="http://schemas.microsoft.com/office/drawing/2014/main" id="{860D1778-72EA-505D-56B4-5D65DC1B63C6}"/>
              </a:ext>
            </a:extLst>
          </p:cNvPr>
          <p:cNvPicPr>
            <a:picLocks noChangeAspect="1"/>
          </p:cNvPicPr>
          <p:nvPr userDrawn="1"/>
        </p:nvPicPr>
        <p:blipFill>
          <a:blip r:embed="rId4"/>
          <a:srcRect l="1143" r="45133"/>
          <a:stretch/>
        </p:blipFill>
        <p:spPr>
          <a:xfrm>
            <a:off x="-144977" y="0"/>
            <a:ext cx="6240977" cy="6534374"/>
          </a:xfrm>
          <a:prstGeom prst="rect">
            <a:avLst/>
          </a:prstGeom>
          <a:effectLst>
            <a:outerShdw blurRad="225040" dist="53387" dir="8100000" algn="tr" rotWithShape="0">
              <a:prstClr val="black">
                <a:alpha val="64920"/>
              </a:prstClr>
            </a:outerShdw>
          </a:effectLst>
        </p:spPr>
      </p:pic>
    </p:spTree>
    <p:extLst>
      <p:ext uri="{BB962C8B-B14F-4D97-AF65-F5344CB8AC3E}">
        <p14:creationId xmlns:p14="http://schemas.microsoft.com/office/powerpoint/2010/main" val="48073574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7129" y="628357"/>
            <a:ext cx="10604574" cy="242872"/>
          </a:xfrm>
          <a:prstGeom prst="rect">
            <a:avLst/>
          </a:prstGeom>
        </p:spPr>
        <p:txBody>
          <a:bodyPr vert="horz" lIns="0" tIns="0" rIns="0" bIns="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757129" y="1923730"/>
            <a:ext cx="10604574" cy="5148000"/>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08509531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703" r:id="rId4"/>
    <p:sldLayoutId id="2147483699" r:id="rId5"/>
    <p:sldLayoutId id="2147483701" r:id="rId6"/>
  </p:sldLayoutIdLst>
  <p:txStyles>
    <p:titleStyle>
      <a:lvl1pPr algn="l" defTabSz="912571" rtl="0" eaLnBrk="1" latinLnBrk="0" hangingPunct="1">
        <a:lnSpc>
          <a:spcPct val="90000"/>
        </a:lnSpc>
        <a:spcBef>
          <a:spcPct val="0"/>
        </a:spcBef>
        <a:buNone/>
        <a:defRPr sz="3200" b="1" i="0" kern="12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143" indent="-228143" algn="l" defTabSz="912571" rtl="0" eaLnBrk="1" latinLnBrk="0" hangingPunct="1">
        <a:lnSpc>
          <a:spcPct val="90000"/>
        </a:lnSpc>
        <a:spcBef>
          <a:spcPts val="998"/>
        </a:spcBef>
        <a:buFont typeface="Arial" panose="020B0604020202020204" pitchFamily="34" charset="0"/>
        <a:buChar char="•"/>
        <a:defRPr sz="2500" b="0" i="0" kern="12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vl2pPr marL="684428" indent="-228143" algn="l" defTabSz="912571" rtl="0" eaLnBrk="1" latinLnBrk="0" hangingPunct="1">
        <a:lnSpc>
          <a:spcPct val="90000"/>
        </a:lnSpc>
        <a:spcBef>
          <a:spcPts val="499"/>
        </a:spcBef>
        <a:buFont typeface="Arial" panose="020B0604020202020204" pitchFamily="34" charset="0"/>
        <a:buChar char="•"/>
        <a:defRPr sz="2200" b="0" i="0" kern="12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2pPr>
      <a:lvl3pPr marL="1140714" indent="-228143" algn="l" defTabSz="912571" rtl="0" eaLnBrk="1" latinLnBrk="0" hangingPunct="1">
        <a:lnSpc>
          <a:spcPct val="90000"/>
        </a:lnSpc>
        <a:spcBef>
          <a:spcPts val="499"/>
        </a:spcBef>
        <a:buFont typeface="Arial" panose="020B0604020202020204" pitchFamily="34" charset="0"/>
        <a:buChar char="•"/>
        <a:defRPr sz="1900" b="0" i="0" kern="12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3pPr>
      <a:lvl4pPr marL="1597000" indent="-228143" algn="l" defTabSz="912571" rtl="0" eaLnBrk="1" latinLnBrk="0" hangingPunct="1">
        <a:lnSpc>
          <a:spcPct val="90000"/>
        </a:lnSpc>
        <a:spcBef>
          <a:spcPts val="499"/>
        </a:spcBef>
        <a:buFont typeface="Arial" panose="020B0604020202020204" pitchFamily="34" charset="0"/>
        <a:buChar char="•"/>
        <a:defRPr sz="1500" b="0" i="0" kern="12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4pPr>
      <a:lvl5pPr marL="2053285" indent="-228143" algn="l" defTabSz="912571" rtl="0" eaLnBrk="1" latinLnBrk="0" hangingPunct="1">
        <a:lnSpc>
          <a:spcPct val="90000"/>
        </a:lnSpc>
        <a:spcBef>
          <a:spcPts val="499"/>
        </a:spcBef>
        <a:buFont typeface="Arial" panose="020B0604020202020204" pitchFamily="34" charset="0"/>
        <a:buChar char="•"/>
        <a:defRPr sz="1200" b="0" i="0" kern="12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5pPr>
      <a:lvl6pPr marL="2509571" indent="-228143" algn="l" defTabSz="912571" rtl="0" eaLnBrk="1" latinLnBrk="0" hangingPunct="1">
        <a:lnSpc>
          <a:spcPct val="90000"/>
        </a:lnSpc>
        <a:spcBef>
          <a:spcPts val="499"/>
        </a:spcBef>
        <a:buFont typeface="Arial" panose="020B0604020202020204" pitchFamily="34" charset="0"/>
        <a:buChar char="•"/>
        <a:defRPr sz="1796" kern="1200">
          <a:solidFill>
            <a:schemeClr val="tx1"/>
          </a:solidFill>
          <a:latin typeface="+mn-lt"/>
          <a:ea typeface="+mn-ea"/>
          <a:cs typeface="+mn-cs"/>
        </a:defRPr>
      </a:lvl6pPr>
      <a:lvl7pPr marL="2965856" indent="-228143" algn="l" defTabSz="912571" rtl="0" eaLnBrk="1" latinLnBrk="0" hangingPunct="1">
        <a:lnSpc>
          <a:spcPct val="90000"/>
        </a:lnSpc>
        <a:spcBef>
          <a:spcPts val="499"/>
        </a:spcBef>
        <a:buFont typeface="Arial" panose="020B0604020202020204" pitchFamily="34" charset="0"/>
        <a:buChar char="•"/>
        <a:defRPr sz="1796" kern="1200">
          <a:solidFill>
            <a:schemeClr val="tx1"/>
          </a:solidFill>
          <a:latin typeface="+mn-lt"/>
          <a:ea typeface="+mn-ea"/>
          <a:cs typeface="+mn-cs"/>
        </a:defRPr>
      </a:lvl7pPr>
      <a:lvl8pPr marL="3422142" indent="-228143" algn="l" defTabSz="912571" rtl="0" eaLnBrk="1" latinLnBrk="0" hangingPunct="1">
        <a:lnSpc>
          <a:spcPct val="90000"/>
        </a:lnSpc>
        <a:spcBef>
          <a:spcPts val="499"/>
        </a:spcBef>
        <a:buFont typeface="Arial" panose="020B0604020202020204" pitchFamily="34" charset="0"/>
        <a:buChar char="•"/>
        <a:defRPr sz="1796" kern="1200">
          <a:solidFill>
            <a:schemeClr val="tx1"/>
          </a:solidFill>
          <a:latin typeface="+mn-lt"/>
          <a:ea typeface="+mn-ea"/>
          <a:cs typeface="+mn-cs"/>
        </a:defRPr>
      </a:lvl8pPr>
      <a:lvl9pPr marL="3878428" indent="-228143" algn="l" defTabSz="912571" rtl="0" eaLnBrk="1" latinLnBrk="0" hangingPunct="1">
        <a:lnSpc>
          <a:spcPct val="90000"/>
        </a:lnSpc>
        <a:spcBef>
          <a:spcPts val="499"/>
        </a:spcBef>
        <a:buFont typeface="Arial" panose="020B0604020202020204" pitchFamily="34" charset="0"/>
        <a:buChar char="•"/>
        <a:defRPr sz="1796" kern="1200">
          <a:solidFill>
            <a:schemeClr val="tx1"/>
          </a:solidFill>
          <a:latin typeface="+mn-lt"/>
          <a:ea typeface="+mn-ea"/>
          <a:cs typeface="+mn-cs"/>
        </a:defRPr>
      </a:lvl9pPr>
    </p:bodyStyle>
    <p:otherStyle>
      <a:defPPr>
        <a:defRPr lang="en-US"/>
      </a:defPPr>
      <a:lvl1pPr marL="0" algn="l" defTabSz="912571" rtl="0" eaLnBrk="1" latinLnBrk="0" hangingPunct="1">
        <a:defRPr sz="1796" kern="1200">
          <a:solidFill>
            <a:schemeClr val="tx1"/>
          </a:solidFill>
          <a:latin typeface="+mn-lt"/>
          <a:ea typeface="+mn-ea"/>
          <a:cs typeface="+mn-cs"/>
        </a:defRPr>
      </a:lvl1pPr>
      <a:lvl2pPr marL="456286" algn="l" defTabSz="912571" rtl="0" eaLnBrk="1" latinLnBrk="0" hangingPunct="1">
        <a:defRPr sz="1796" kern="1200">
          <a:solidFill>
            <a:schemeClr val="tx1"/>
          </a:solidFill>
          <a:latin typeface="+mn-lt"/>
          <a:ea typeface="+mn-ea"/>
          <a:cs typeface="+mn-cs"/>
        </a:defRPr>
      </a:lvl2pPr>
      <a:lvl3pPr marL="912571" algn="l" defTabSz="912571" rtl="0" eaLnBrk="1" latinLnBrk="0" hangingPunct="1">
        <a:defRPr sz="1796" kern="1200">
          <a:solidFill>
            <a:schemeClr val="tx1"/>
          </a:solidFill>
          <a:latin typeface="+mn-lt"/>
          <a:ea typeface="+mn-ea"/>
          <a:cs typeface="+mn-cs"/>
        </a:defRPr>
      </a:lvl3pPr>
      <a:lvl4pPr marL="1368857" algn="l" defTabSz="912571" rtl="0" eaLnBrk="1" latinLnBrk="0" hangingPunct="1">
        <a:defRPr sz="1796" kern="1200">
          <a:solidFill>
            <a:schemeClr val="tx1"/>
          </a:solidFill>
          <a:latin typeface="+mn-lt"/>
          <a:ea typeface="+mn-ea"/>
          <a:cs typeface="+mn-cs"/>
        </a:defRPr>
      </a:lvl4pPr>
      <a:lvl5pPr marL="1825142" algn="l" defTabSz="912571" rtl="0" eaLnBrk="1" latinLnBrk="0" hangingPunct="1">
        <a:defRPr sz="1796" kern="1200">
          <a:solidFill>
            <a:schemeClr val="tx1"/>
          </a:solidFill>
          <a:latin typeface="+mn-lt"/>
          <a:ea typeface="+mn-ea"/>
          <a:cs typeface="+mn-cs"/>
        </a:defRPr>
      </a:lvl5pPr>
      <a:lvl6pPr marL="2281428" algn="l" defTabSz="912571" rtl="0" eaLnBrk="1" latinLnBrk="0" hangingPunct="1">
        <a:defRPr sz="1796" kern="1200">
          <a:solidFill>
            <a:schemeClr val="tx1"/>
          </a:solidFill>
          <a:latin typeface="+mn-lt"/>
          <a:ea typeface="+mn-ea"/>
          <a:cs typeface="+mn-cs"/>
        </a:defRPr>
      </a:lvl6pPr>
      <a:lvl7pPr marL="2737714" algn="l" defTabSz="912571" rtl="0" eaLnBrk="1" latinLnBrk="0" hangingPunct="1">
        <a:defRPr sz="1796" kern="1200">
          <a:solidFill>
            <a:schemeClr val="tx1"/>
          </a:solidFill>
          <a:latin typeface="+mn-lt"/>
          <a:ea typeface="+mn-ea"/>
          <a:cs typeface="+mn-cs"/>
        </a:defRPr>
      </a:lvl7pPr>
      <a:lvl8pPr marL="3193999" algn="l" defTabSz="912571" rtl="0" eaLnBrk="1" latinLnBrk="0" hangingPunct="1">
        <a:defRPr sz="1796" kern="1200">
          <a:solidFill>
            <a:schemeClr val="tx1"/>
          </a:solidFill>
          <a:latin typeface="+mn-lt"/>
          <a:ea typeface="+mn-ea"/>
          <a:cs typeface="+mn-cs"/>
        </a:defRPr>
      </a:lvl8pPr>
      <a:lvl9pPr marL="3650285" algn="l" defTabSz="912571" rtl="0" eaLnBrk="1" latinLnBrk="0" hangingPunct="1">
        <a:defRPr sz="1796" kern="1200">
          <a:solidFill>
            <a:schemeClr val="tx1"/>
          </a:solidFill>
          <a:latin typeface="+mn-lt"/>
          <a:ea typeface="+mn-ea"/>
          <a:cs typeface="+mn-cs"/>
        </a:defRPr>
      </a:lvl9pPr>
    </p:otherStyle>
  </p:txStyles>
  <p:extLst>
    <p:ext uri="{27BBF7A9-308A-43DC-89C8-2F10F3537804}">
      <p15:sldGuideLst xmlns:p15="http://schemas.microsoft.com/office/powerpoint/2012/main">
        <p15:guide id="4" pos="476">
          <p15:clr>
            <a:srgbClr val="A4A3A4"/>
          </p15:clr>
        </p15:guide>
        <p15:guide id="6" pos="1043">
          <p15:clr>
            <a:srgbClr val="A4A3A4"/>
          </p15:clr>
        </p15:guide>
        <p15:guide id="18">
          <p15:clr>
            <a:srgbClr val="A4A3A4"/>
          </p15:clr>
        </p15:guide>
        <p15:guide id="29" pos="6599">
          <p15:clr>
            <a:srgbClr val="A4A3A4"/>
          </p15:clr>
        </p15:guide>
        <p15:guide id="32" pos="7234">
          <p15:clr>
            <a:srgbClr val="A4A3A4"/>
          </p15:clr>
        </p15:guide>
        <p15:guide id="33" pos="766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8">
            <a:extLst>
              <a:ext uri="{FF2B5EF4-FFF2-40B4-BE49-F238E27FC236}">
                <a16:creationId xmlns:a16="http://schemas.microsoft.com/office/drawing/2014/main" id="{EE0F897E-E363-B691-DD21-AB056B73D25F}"/>
              </a:ext>
            </a:extLst>
          </p:cNvPr>
          <p:cNvSpPr txBox="1">
            <a:spLocks/>
          </p:cNvSpPr>
          <p:nvPr/>
        </p:nvSpPr>
        <p:spPr>
          <a:xfrm>
            <a:off x="5877863" y="963229"/>
            <a:ext cx="6092517" cy="1805782"/>
          </a:xfrm>
          <a:prstGeom prst="rect">
            <a:avLst/>
          </a:prstGeom>
        </p:spPr>
        <p:txBody>
          <a:bodyPr>
            <a:noAutofit/>
          </a:bodyPr>
          <a:lstStyle>
            <a:lvl1pPr algn="l" defTabSz="914400" rtl="0" eaLnBrk="1" latinLnBrk="0" hangingPunct="1">
              <a:lnSpc>
                <a:spcPct val="90000"/>
              </a:lnSpc>
              <a:spcBef>
                <a:spcPct val="0"/>
              </a:spcBef>
              <a:buNone/>
              <a:defRPr sz="4000" b="1" i="0" kern="1200">
                <a:solidFill>
                  <a:srgbClr val="5A5A5C"/>
                </a:solidFill>
                <a:latin typeface="Avenir Black" panose="02000503020000020003" pitchFamily="2" charset="0"/>
                <a:ea typeface="+mj-ea"/>
                <a:cs typeface="+mj-cs"/>
              </a:defRPr>
            </a:lvl1pPr>
          </a:lstStyle>
          <a:p>
            <a:r>
              <a:rPr lang="en-US" sz="4400" dirty="0">
                <a:solidFill>
                  <a:srgbClr val="DCC071"/>
                </a:solidFill>
                <a:ea typeface="Calibri" panose="020F0502020204030204" pitchFamily="34" charset="0"/>
                <a:cs typeface="Times New Roman" panose="02020603050405020304" pitchFamily="18" charset="0"/>
              </a:rPr>
              <a:t>Elite Wealth and </a:t>
            </a:r>
            <a:r>
              <a:rPr lang="en-US" sz="4400" dirty="0" err="1">
                <a:solidFill>
                  <a:srgbClr val="DCC071"/>
                </a:solidFill>
                <a:ea typeface="Calibri" panose="020F0502020204030204" pitchFamily="34" charset="0"/>
                <a:cs typeface="Times New Roman" panose="02020603050405020304" pitchFamily="18" charset="0"/>
              </a:rPr>
              <a:t>Commspace</a:t>
            </a:r>
            <a:r>
              <a:rPr lang="en-US" sz="4400" dirty="0">
                <a:solidFill>
                  <a:srgbClr val="DCC071"/>
                </a:solidFill>
                <a:ea typeface="Calibri" panose="020F0502020204030204" pitchFamily="34" charset="0"/>
                <a:cs typeface="Times New Roman" panose="02020603050405020304" pitchFamily="18" charset="0"/>
              </a:rPr>
              <a:t> Data Migration Roadmap and Capability Ownership</a:t>
            </a:r>
            <a:endParaRPr lang="en-US" sz="8000" dirty="0">
              <a:solidFill>
                <a:srgbClr val="DCC071"/>
              </a:solidFill>
            </a:endParaRPr>
          </a:p>
        </p:txBody>
      </p:sp>
      <p:sp>
        <p:nvSpPr>
          <p:cNvPr id="3" name="Subtitle 10">
            <a:extLst>
              <a:ext uri="{FF2B5EF4-FFF2-40B4-BE49-F238E27FC236}">
                <a16:creationId xmlns:a16="http://schemas.microsoft.com/office/drawing/2014/main" id="{CA56DD23-61BD-26DD-6458-A24F50004E24}"/>
              </a:ext>
            </a:extLst>
          </p:cNvPr>
          <p:cNvSpPr txBox="1">
            <a:spLocks/>
          </p:cNvSpPr>
          <p:nvPr/>
        </p:nvSpPr>
        <p:spPr>
          <a:xfrm>
            <a:off x="5877863" y="3885474"/>
            <a:ext cx="5460928" cy="5352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A5A5C"/>
                </a:solidFill>
                <a:latin typeface="Avenir" panose="0200050302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A5A5C"/>
                </a:solidFill>
                <a:latin typeface="Avenir" panose="0200050302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A5A5C"/>
                </a:solidFill>
                <a:latin typeface="Avenir" panose="0200050302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bg1"/>
                </a:solidFill>
                <a:ea typeface="Calibri" panose="020F0502020204030204" pitchFamily="34" charset="0"/>
                <a:cs typeface="Times New Roman" panose="02020603050405020304" pitchFamily="18" charset="0"/>
              </a:rPr>
              <a:t>SQL07 to the Platform – February 2026</a:t>
            </a:r>
            <a:endParaRPr lang="en-US" sz="2400" dirty="0">
              <a:solidFill>
                <a:schemeClr val="bg1"/>
              </a:solidFill>
            </a:endParaRPr>
          </a:p>
        </p:txBody>
      </p:sp>
      <p:pic>
        <p:nvPicPr>
          <p:cNvPr id="6" name="Picture 5">
            <a:extLst>
              <a:ext uri="{FF2B5EF4-FFF2-40B4-BE49-F238E27FC236}">
                <a16:creationId xmlns:a16="http://schemas.microsoft.com/office/drawing/2014/main" id="{42BB9C85-5312-2220-453F-763802646349}"/>
              </a:ext>
            </a:extLst>
          </p:cNvPr>
          <p:cNvPicPr>
            <a:picLocks noChangeAspect="1"/>
          </p:cNvPicPr>
          <p:nvPr/>
        </p:nvPicPr>
        <p:blipFill rotWithShape="1">
          <a:blip r:embed="rId2">
            <a:alphaModFix/>
          </a:blip>
          <a:srcRect l="13118" t="12943" r="13484" b="71566"/>
          <a:stretch/>
        </p:blipFill>
        <p:spPr>
          <a:xfrm>
            <a:off x="4651276" y="5745407"/>
            <a:ext cx="5239265" cy="782352"/>
          </a:xfrm>
          <a:prstGeom prst="rect">
            <a:avLst/>
          </a:prstGeom>
        </p:spPr>
      </p:pic>
      <p:pic>
        <p:nvPicPr>
          <p:cNvPr id="4" name="Picture 3">
            <a:extLst>
              <a:ext uri="{FF2B5EF4-FFF2-40B4-BE49-F238E27FC236}">
                <a16:creationId xmlns:a16="http://schemas.microsoft.com/office/drawing/2014/main" id="{715D8084-BBD1-DF0A-9025-C6FBC44C008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890541" y="5362832"/>
            <a:ext cx="2305669" cy="1547503"/>
          </a:xfrm>
          <a:prstGeom prst="rect">
            <a:avLst/>
          </a:prstGeom>
        </p:spPr>
      </p:pic>
    </p:spTree>
    <p:extLst>
      <p:ext uri="{BB962C8B-B14F-4D97-AF65-F5344CB8AC3E}">
        <p14:creationId xmlns:p14="http://schemas.microsoft.com/office/powerpoint/2010/main" val="426870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2" presetClass="entr" presetSubtype="4" fill="hold" grpId="0" nodeType="after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p:tgtEl>
                                          <p:spTgt spid="3"/>
                                        </p:tgtEl>
                                        <p:attrNameLst>
                                          <p:attrName>ppt_y</p:attrName>
                                        </p:attrNameLst>
                                      </p:cBhvr>
                                      <p:tavLst>
                                        <p:tav tm="0">
                                          <p:val>
                                            <p:strVal val="#ppt_y+#ppt_h*1.125000"/>
                                          </p:val>
                                        </p:tav>
                                        <p:tav tm="100000">
                                          <p:val>
                                            <p:strVal val="#ppt_y"/>
                                          </p:val>
                                        </p:tav>
                                      </p:tavLst>
                                    </p:anim>
                                    <p:animEffect transition="in" filter="wipe(up)">
                                      <p:cBhvr>
                                        <p:cTn id="12" dur="500"/>
                                        <p:tgtEl>
                                          <p:spTgt spid="3"/>
                                        </p:tgtEl>
                                      </p:cBhvr>
                                    </p:animEffect>
                                  </p:childTnLst>
                                </p:cTn>
                              </p:par>
                            </p:childTnLst>
                          </p:cTn>
                        </p:par>
                        <p:par>
                          <p:cTn id="13" fill="hold">
                            <p:stCondLst>
                              <p:cond delay="1500"/>
                            </p:stCondLst>
                            <p:childTnLst>
                              <p:par>
                                <p:cTn id="14" presetID="12" presetClass="entr" presetSubtype="1"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1000"/>
                                        <p:tgtEl>
                                          <p:spTgt spid="4"/>
                                        </p:tgtEl>
                                        <p:attrNameLst>
                                          <p:attrName>ppt_y</p:attrName>
                                        </p:attrNameLst>
                                      </p:cBhvr>
                                      <p:tavLst>
                                        <p:tav tm="0">
                                          <p:val>
                                            <p:strVal val="#ppt_y-#ppt_h*1.125000"/>
                                          </p:val>
                                        </p:tav>
                                        <p:tav tm="100000">
                                          <p:val>
                                            <p:strVal val="#ppt_y"/>
                                          </p:val>
                                        </p:tav>
                                      </p:tavLst>
                                    </p:anim>
                                    <p:animEffect transition="in" filter="wipe(down)">
                                      <p:cBhvr>
                                        <p:cTn id="17" dur="1000"/>
                                        <p:tgtEl>
                                          <p:spTgt spid="4"/>
                                        </p:tgtEl>
                                      </p:cBhvr>
                                    </p:animEffect>
                                  </p:childTnLst>
                                </p:cTn>
                              </p:par>
                              <p:par>
                                <p:cTn id="18" presetID="10" presetClass="entr" presetSubtype="0" fill="hold" nodeType="withEffect">
                                  <p:stCondLst>
                                    <p:cond delay="5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53486-B407-06BA-2A34-E2D7F83C4115}"/>
              </a:ext>
            </a:extLst>
          </p:cNvPr>
          <p:cNvSpPr>
            <a:spLocks noGrp="1"/>
          </p:cNvSpPr>
          <p:nvPr>
            <p:ph type="title"/>
          </p:nvPr>
        </p:nvSpPr>
        <p:spPr>
          <a:xfrm>
            <a:off x="615110" y="559597"/>
            <a:ext cx="8580507" cy="685941"/>
          </a:xfrm>
        </p:spPr>
        <p:txBody>
          <a:bodyPr/>
          <a:lstStyle/>
          <a:p>
            <a:r>
              <a:rPr lang="en-US" dirty="0">
                <a:solidFill>
                  <a:srgbClr val="DCC071"/>
                </a:solidFill>
              </a:rPr>
              <a:t>Elite Wealth Data Migration to the Platform</a:t>
            </a:r>
          </a:p>
        </p:txBody>
      </p:sp>
      <p:sp>
        <p:nvSpPr>
          <p:cNvPr id="3" name="Subtitle 10">
            <a:extLst>
              <a:ext uri="{FF2B5EF4-FFF2-40B4-BE49-F238E27FC236}">
                <a16:creationId xmlns:a16="http://schemas.microsoft.com/office/drawing/2014/main" id="{09B08098-1076-B286-F02E-E560F6DA1D46}"/>
              </a:ext>
            </a:extLst>
          </p:cNvPr>
          <p:cNvSpPr txBox="1">
            <a:spLocks/>
          </p:cNvSpPr>
          <p:nvPr/>
        </p:nvSpPr>
        <p:spPr>
          <a:xfrm>
            <a:off x="615110" y="2204158"/>
            <a:ext cx="6392795" cy="196963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A5A5C"/>
                </a:solidFill>
                <a:latin typeface="Avenir" panose="0200050302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A5A5C"/>
                </a:solidFill>
                <a:latin typeface="Avenir" panose="0200050302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A5A5C"/>
                </a:solidFill>
                <a:latin typeface="Avenir" panose="0200050302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olidFill>
                  <a:schemeClr val="bg1"/>
                </a:solidFill>
                <a:ea typeface="Calibri" panose="020F0502020204030204" pitchFamily="34" charset="0"/>
                <a:cs typeface="Times New Roman" panose="02020603050405020304" pitchFamily="18" charset="0"/>
              </a:rPr>
              <a:t>The solution will be presented in two parts:</a:t>
            </a:r>
          </a:p>
          <a:p>
            <a:r>
              <a:rPr lang="en-GB" sz="2400" dirty="0">
                <a:solidFill>
                  <a:schemeClr val="bg1"/>
                </a:solidFill>
                <a:ea typeface="Calibri" panose="020F0502020204030204" pitchFamily="34" charset="0"/>
                <a:cs typeface="Times New Roman" panose="02020603050405020304" pitchFamily="18" charset="0"/>
              </a:rPr>
              <a:t>What we are solving for</a:t>
            </a:r>
          </a:p>
          <a:p>
            <a:r>
              <a:rPr lang="en-GB" sz="2400" dirty="0">
                <a:solidFill>
                  <a:schemeClr val="bg1"/>
                </a:solidFill>
                <a:ea typeface="Calibri" panose="020F0502020204030204" pitchFamily="34" charset="0"/>
                <a:cs typeface="Times New Roman" panose="02020603050405020304" pitchFamily="18" charset="0"/>
              </a:rPr>
              <a:t>Our approach</a:t>
            </a:r>
          </a:p>
          <a:p>
            <a:pPr marL="0" indent="0">
              <a:buNone/>
            </a:pPr>
            <a:endParaRPr lang="en-US" sz="2400" dirty="0">
              <a:solidFill>
                <a:schemeClr val="bg1"/>
              </a:solidFill>
            </a:endParaRPr>
          </a:p>
        </p:txBody>
      </p:sp>
    </p:spTree>
    <p:extLst>
      <p:ext uri="{BB962C8B-B14F-4D97-AF65-F5344CB8AC3E}">
        <p14:creationId xmlns:p14="http://schemas.microsoft.com/office/powerpoint/2010/main" val="3666516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5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0E0CB126-C9DE-8BEA-AFFD-F4756576D7C7}"/>
              </a:ext>
            </a:extLst>
          </p:cNvPr>
          <p:cNvSpPr>
            <a:spLocks noGrp="1"/>
          </p:cNvSpPr>
          <p:nvPr>
            <p:ph type="title"/>
          </p:nvPr>
        </p:nvSpPr>
        <p:spPr>
          <a:xfrm>
            <a:off x="605170" y="562294"/>
            <a:ext cx="8580507" cy="685941"/>
          </a:xfrm>
        </p:spPr>
        <p:txBody>
          <a:bodyPr anchor="t">
            <a:normAutofit/>
          </a:bodyPr>
          <a:lstStyle/>
          <a:p>
            <a:pPr algn="l"/>
            <a:r>
              <a:rPr lang="en-US" sz="3200" dirty="0">
                <a:solidFill>
                  <a:srgbClr val="28413A"/>
                </a:solidFill>
              </a:rPr>
              <a:t>What we are solving for:</a:t>
            </a:r>
            <a:endParaRPr lang="en-US" sz="4800" dirty="0">
              <a:solidFill>
                <a:srgbClr val="28413A"/>
              </a:solidFill>
            </a:endParaRPr>
          </a:p>
        </p:txBody>
      </p:sp>
      <p:sp>
        <p:nvSpPr>
          <p:cNvPr id="2" name="Subtitle 10">
            <a:extLst>
              <a:ext uri="{FF2B5EF4-FFF2-40B4-BE49-F238E27FC236}">
                <a16:creationId xmlns:a16="http://schemas.microsoft.com/office/drawing/2014/main" id="{7BDFA670-5C61-9E2A-B898-C5906930E574}"/>
              </a:ext>
            </a:extLst>
          </p:cNvPr>
          <p:cNvSpPr txBox="1">
            <a:spLocks/>
          </p:cNvSpPr>
          <p:nvPr/>
        </p:nvSpPr>
        <p:spPr>
          <a:xfrm>
            <a:off x="605170" y="1059254"/>
            <a:ext cx="9933064" cy="4655745"/>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A5A5C"/>
                </a:solidFill>
                <a:latin typeface="Avenir" panose="0200050302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A5A5C"/>
                </a:solidFill>
                <a:latin typeface="Avenir" panose="0200050302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A5A5C"/>
                </a:solidFill>
                <a:latin typeface="Avenir" panose="0200050302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olidFill>
                  <a:schemeClr val="tx1">
                    <a:lumMod val="50000"/>
                  </a:schemeClr>
                </a:solidFill>
                <a:ea typeface="Calibri" panose="020F0502020204030204" pitchFamily="34" charset="0"/>
                <a:cs typeface="Times New Roman" panose="02020603050405020304" pitchFamily="18" charset="0"/>
              </a:rPr>
              <a:t>The SQL07 Migration aims to bring the data products that are currently on SQL07 to the platform for use across the bank.</a:t>
            </a:r>
          </a:p>
          <a:p>
            <a:pPr marL="0" indent="0">
              <a:buNone/>
            </a:pPr>
            <a:endParaRPr lang="en-GB" sz="2400" dirty="0">
              <a:solidFill>
                <a:schemeClr val="tx1">
                  <a:lumMod val="50000"/>
                </a:schemeClr>
              </a:solidFill>
              <a:ea typeface="Calibri" panose="020F0502020204030204" pitchFamily="34" charset="0"/>
              <a:cs typeface="Times New Roman" panose="02020603050405020304" pitchFamily="18" charset="0"/>
            </a:endParaRPr>
          </a:p>
          <a:p>
            <a:pPr marL="0" indent="0">
              <a:buNone/>
            </a:pPr>
            <a:r>
              <a:rPr lang="en-GB" sz="2400" dirty="0">
                <a:solidFill>
                  <a:schemeClr val="tx1">
                    <a:lumMod val="50000"/>
                  </a:schemeClr>
                </a:solidFill>
                <a:ea typeface="Calibri" panose="020F0502020204030204" pitchFamily="34" charset="0"/>
                <a:cs typeface="Times New Roman" panose="02020603050405020304" pitchFamily="18" charset="0"/>
              </a:rPr>
              <a:t>Our responsibility is to </a:t>
            </a:r>
            <a:r>
              <a:rPr lang="en-GB" sz="2400" b="1" dirty="0">
                <a:solidFill>
                  <a:schemeClr val="tx1">
                    <a:lumMod val="50000"/>
                  </a:schemeClr>
                </a:solidFill>
                <a:ea typeface="Calibri" panose="020F0502020204030204" pitchFamily="34" charset="0"/>
                <a:cs typeface="Times New Roman" panose="02020603050405020304" pitchFamily="18" charset="0"/>
              </a:rPr>
              <a:t>migrate</a:t>
            </a:r>
            <a:r>
              <a:rPr lang="en-GB" sz="2400" dirty="0">
                <a:solidFill>
                  <a:schemeClr val="tx1">
                    <a:lumMod val="50000"/>
                  </a:schemeClr>
                </a:solidFill>
                <a:ea typeface="Calibri" panose="020F0502020204030204" pitchFamily="34" charset="0"/>
                <a:cs typeface="Times New Roman" panose="02020603050405020304" pitchFamily="18" charset="0"/>
              </a:rPr>
              <a:t> the </a:t>
            </a:r>
            <a:r>
              <a:rPr lang="en-GB" sz="2400" b="1" dirty="0">
                <a:solidFill>
                  <a:schemeClr val="tx1">
                    <a:lumMod val="50000"/>
                  </a:schemeClr>
                </a:solidFill>
                <a:ea typeface="Calibri" panose="020F0502020204030204" pitchFamily="34" charset="0"/>
                <a:cs typeface="Times New Roman" panose="02020603050405020304" pitchFamily="18" charset="0"/>
              </a:rPr>
              <a:t>Elite Wealth and </a:t>
            </a:r>
            <a:r>
              <a:rPr lang="en-GB" sz="2400" b="1" dirty="0" err="1">
                <a:solidFill>
                  <a:schemeClr val="tx1">
                    <a:lumMod val="50000"/>
                  </a:schemeClr>
                </a:solidFill>
                <a:ea typeface="Calibri" panose="020F0502020204030204" pitchFamily="34" charset="0"/>
                <a:cs typeface="Times New Roman" panose="02020603050405020304" pitchFamily="18" charset="0"/>
              </a:rPr>
              <a:t>Commspace</a:t>
            </a:r>
            <a:r>
              <a:rPr lang="en-GB" sz="2400" b="1" dirty="0">
                <a:solidFill>
                  <a:schemeClr val="tx1">
                    <a:lumMod val="50000"/>
                  </a:schemeClr>
                </a:solidFill>
                <a:ea typeface="Calibri" panose="020F0502020204030204" pitchFamily="34" charset="0"/>
                <a:cs typeface="Times New Roman" panose="02020603050405020304" pitchFamily="18" charset="0"/>
              </a:rPr>
              <a:t> Generation 1 data products</a:t>
            </a:r>
            <a:r>
              <a:rPr lang="en-GB" sz="2400" dirty="0">
                <a:solidFill>
                  <a:schemeClr val="tx1">
                    <a:lumMod val="50000"/>
                  </a:schemeClr>
                </a:solidFill>
                <a:ea typeface="Calibri" panose="020F0502020204030204" pitchFamily="34" charset="0"/>
                <a:cs typeface="Times New Roman" panose="02020603050405020304" pitchFamily="18" charset="0"/>
              </a:rPr>
              <a:t>. </a:t>
            </a:r>
          </a:p>
          <a:p>
            <a:pPr marL="0" indent="0">
              <a:buNone/>
            </a:pPr>
            <a:endParaRPr lang="en-GB" sz="2500" b="1" dirty="0">
              <a:solidFill>
                <a:schemeClr val="tx1">
                  <a:lumMod val="50000"/>
                </a:schemeClr>
              </a:solidFill>
              <a:ea typeface="Calibri" panose="020F0502020204030204" pitchFamily="34" charset="0"/>
              <a:cs typeface="Times New Roman" panose="02020603050405020304" pitchFamily="18" charset="0"/>
            </a:endParaRPr>
          </a:p>
          <a:p>
            <a:pPr marL="0" indent="0">
              <a:buNone/>
            </a:pPr>
            <a:r>
              <a:rPr lang="en-GB" sz="2500" b="1" dirty="0">
                <a:solidFill>
                  <a:schemeClr val="tx1">
                    <a:lumMod val="50000"/>
                  </a:schemeClr>
                </a:solidFill>
                <a:ea typeface="Calibri" panose="020F0502020204030204" pitchFamily="34" charset="0"/>
                <a:cs typeface="Times New Roman" panose="02020603050405020304" pitchFamily="18" charset="0"/>
              </a:rPr>
              <a:t>Some helpful definitions:</a:t>
            </a:r>
          </a:p>
          <a:p>
            <a:pPr marL="0" indent="0">
              <a:buNone/>
            </a:pPr>
            <a:r>
              <a:rPr lang="en-GB" sz="2400" b="1" i="1" dirty="0">
                <a:solidFill>
                  <a:schemeClr val="tx1">
                    <a:lumMod val="50000"/>
                  </a:schemeClr>
                </a:solidFill>
                <a:ea typeface="Calibri" panose="020F0502020204030204" pitchFamily="34" charset="0"/>
                <a:cs typeface="Times New Roman" panose="02020603050405020304" pitchFamily="18" charset="0"/>
              </a:rPr>
              <a:t>Data Product (from our </a:t>
            </a:r>
            <a:r>
              <a:rPr lang="en-GB" sz="2400" b="1" i="1" dirty="0" err="1">
                <a:solidFill>
                  <a:schemeClr val="tx1">
                    <a:lumMod val="50000"/>
                  </a:schemeClr>
                </a:solidFill>
                <a:ea typeface="Calibri" panose="020F0502020204030204" pitchFamily="34" charset="0"/>
                <a:cs typeface="Times New Roman" panose="02020603050405020304" pitchFamily="18" charset="0"/>
              </a:rPr>
              <a:t>DataWiki</a:t>
            </a:r>
            <a:r>
              <a:rPr lang="en-GB" sz="2400" b="1" i="1" dirty="0">
                <a:solidFill>
                  <a:schemeClr val="tx1">
                    <a:lumMod val="50000"/>
                  </a:schemeClr>
                </a:solidFill>
                <a:ea typeface="Calibri" panose="020F0502020204030204" pitchFamily="34" charset="0"/>
                <a:cs typeface="Times New Roman" panose="02020603050405020304" pitchFamily="18" charset="0"/>
              </a:rPr>
              <a:t>): </a:t>
            </a:r>
            <a:r>
              <a:rPr lang="en-GB" sz="2400" dirty="0">
                <a:solidFill>
                  <a:schemeClr val="tx1">
                    <a:lumMod val="50000"/>
                  </a:schemeClr>
                </a:solidFill>
                <a:ea typeface="Calibri" panose="020F0502020204030204" pitchFamily="34" charset="0"/>
                <a:cs typeface="Times New Roman" panose="02020603050405020304" pitchFamily="18" charset="0"/>
              </a:rPr>
              <a:t>A </a:t>
            </a:r>
            <a:r>
              <a:rPr lang="en-US" sz="2400" dirty="0">
                <a:solidFill>
                  <a:schemeClr val="tx1">
                    <a:lumMod val="50000"/>
                  </a:schemeClr>
                </a:solidFill>
                <a:ea typeface="Calibri" panose="020F0502020204030204" pitchFamily="34" charset="0"/>
                <a:cs typeface="Times New Roman" panose="02020603050405020304" pitchFamily="18" charset="0"/>
              </a:rPr>
              <a:t>Data Product is curated data, data that has undergone a process of </a:t>
            </a:r>
            <a:r>
              <a:rPr lang="en-US" sz="2400" dirty="0" err="1">
                <a:solidFill>
                  <a:schemeClr val="tx1">
                    <a:lumMod val="50000"/>
                  </a:schemeClr>
                </a:solidFill>
                <a:ea typeface="Calibri" panose="020F0502020204030204" pitchFamily="34" charset="0"/>
                <a:cs typeface="Times New Roman" panose="02020603050405020304" pitchFamily="18" charset="0"/>
              </a:rPr>
              <a:t>organisation</a:t>
            </a:r>
            <a:r>
              <a:rPr lang="en-US" sz="2400" dirty="0">
                <a:solidFill>
                  <a:schemeClr val="tx1">
                    <a:lumMod val="50000"/>
                  </a:schemeClr>
                </a:solidFill>
                <a:ea typeface="Calibri" panose="020F0502020204030204" pitchFamily="34" charset="0"/>
                <a:cs typeface="Times New Roman" panose="02020603050405020304" pitchFamily="18" charset="0"/>
              </a:rPr>
              <a:t> and/ or integration from various sources. It involves the annotation, publication and presentation of the data such that the value of the data is maintained over time, and the data remains available for reuse and preservation. It is where the </a:t>
            </a:r>
            <a:r>
              <a:rPr lang="en-US" sz="2400" dirty="0" err="1">
                <a:solidFill>
                  <a:schemeClr val="tx1">
                    <a:lumMod val="50000"/>
                  </a:schemeClr>
                </a:solidFill>
                <a:ea typeface="Calibri" panose="020F0502020204030204" pitchFamily="34" charset="0"/>
                <a:cs typeface="Times New Roman" panose="02020603050405020304" pitchFamily="18" charset="0"/>
              </a:rPr>
              <a:t>organisation’s</a:t>
            </a:r>
            <a:r>
              <a:rPr lang="en-US" sz="2400" dirty="0">
                <a:solidFill>
                  <a:schemeClr val="tx1">
                    <a:lumMod val="50000"/>
                  </a:schemeClr>
                </a:solidFill>
                <a:ea typeface="Calibri" panose="020F0502020204030204" pitchFamily="34" charset="0"/>
                <a:cs typeface="Times New Roman" panose="02020603050405020304" pitchFamily="18" charset="0"/>
              </a:rPr>
              <a:t> trusted information, documents, digital assets, and any other content types are stored.</a:t>
            </a:r>
          </a:p>
          <a:p>
            <a:pPr marL="0" indent="0">
              <a:buNone/>
            </a:pPr>
            <a:endParaRPr lang="en-GB" sz="2400" dirty="0">
              <a:solidFill>
                <a:schemeClr val="tx1">
                  <a:lumMod val="50000"/>
                </a:schemeClr>
              </a:solidFill>
              <a:ea typeface="Calibri" panose="020F0502020204030204" pitchFamily="34" charset="0"/>
              <a:cs typeface="Times New Roman" panose="02020603050405020304" pitchFamily="18" charset="0"/>
            </a:endParaRPr>
          </a:p>
          <a:p>
            <a:endParaRPr lang="en-US" sz="2400" dirty="0">
              <a:solidFill>
                <a:schemeClr val="bg1"/>
              </a:solidFill>
            </a:endParaRPr>
          </a:p>
        </p:txBody>
      </p:sp>
    </p:spTree>
    <p:extLst>
      <p:ext uri="{BB962C8B-B14F-4D97-AF65-F5344CB8AC3E}">
        <p14:creationId xmlns:p14="http://schemas.microsoft.com/office/powerpoint/2010/main" val="1078468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0">
            <a:extLst>
              <a:ext uri="{FF2B5EF4-FFF2-40B4-BE49-F238E27FC236}">
                <a16:creationId xmlns:a16="http://schemas.microsoft.com/office/drawing/2014/main" id="{7BDFA670-5C61-9E2A-B898-C5906930E574}"/>
              </a:ext>
            </a:extLst>
          </p:cNvPr>
          <p:cNvSpPr txBox="1">
            <a:spLocks/>
          </p:cNvSpPr>
          <p:nvPr/>
        </p:nvSpPr>
        <p:spPr>
          <a:xfrm>
            <a:off x="605170" y="1118444"/>
            <a:ext cx="9933064" cy="5576270"/>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A5A5C"/>
                </a:solidFill>
                <a:latin typeface="Avenir" panose="0200050302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A5A5C"/>
                </a:solidFill>
                <a:latin typeface="Avenir" panose="0200050302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A5A5C"/>
                </a:solidFill>
                <a:latin typeface="Avenir" panose="0200050302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olidFill>
                  <a:schemeClr val="tx1">
                    <a:lumMod val="50000"/>
                  </a:schemeClr>
                </a:solidFill>
                <a:ea typeface="Calibri" panose="020F0502020204030204" pitchFamily="34" charset="0"/>
                <a:cs typeface="Times New Roman" panose="02020603050405020304" pitchFamily="18" charset="0"/>
              </a:rPr>
              <a:t>The organisation defines three different types of data products (adapted from the platform conceptual data pipeline (conceptual architecture)):</a:t>
            </a:r>
          </a:p>
          <a:p>
            <a:pPr marL="0" indent="0">
              <a:buNone/>
            </a:pPr>
            <a:endParaRPr lang="en-GB" sz="2400" dirty="0">
              <a:solidFill>
                <a:schemeClr val="tx1">
                  <a:lumMod val="50000"/>
                </a:schemeClr>
              </a:solidFill>
              <a:ea typeface="Calibri" panose="020F0502020204030204" pitchFamily="34" charset="0"/>
              <a:cs typeface="Times New Roman" panose="02020603050405020304" pitchFamily="18" charset="0"/>
            </a:endParaRPr>
          </a:p>
          <a:p>
            <a:pPr marL="0" indent="0">
              <a:buNone/>
            </a:pPr>
            <a:endParaRPr lang="en-GB" sz="2400" dirty="0">
              <a:solidFill>
                <a:schemeClr val="tx1">
                  <a:lumMod val="50000"/>
                </a:schemeClr>
              </a:solidFill>
              <a:ea typeface="Calibri" panose="020F0502020204030204" pitchFamily="34" charset="0"/>
              <a:cs typeface="Times New Roman" panose="02020603050405020304" pitchFamily="18" charset="0"/>
            </a:endParaRPr>
          </a:p>
          <a:p>
            <a:pPr marL="0" indent="0">
              <a:buNone/>
            </a:pPr>
            <a:endParaRPr lang="en-GB" sz="2400" dirty="0">
              <a:solidFill>
                <a:schemeClr val="tx1">
                  <a:lumMod val="50000"/>
                </a:schemeClr>
              </a:solidFill>
              <a:ea typeface="Calibri" panose="020F0502020204030204" pitchFamily="34" charset="0"/>
              <a:cs typeface="Times New Roman" panose="02020603050405020304" pitchFamily="18" charset="0"/>
            </a:endParaRPr>
          </a:p>
          <a:p>
            <a:endParaRPr lang="en-US" sz="2400" dirty="0">
              <a:solidFill>
                <a:schemeClr val="bg1"/>
              </a:solidFill>
            </a:endParaRPr>
          </a:p>
          <a:p>
            <a:endParaRPr lang="en-US" sz="2400" dirty="0">
              <a:solidFill>
                <a:schemeClr val="bg1"/>
              </a:solidFill>
            </a:endParaRPr>
          </a:p>
          <a:p>
            <a:endParaRPr lang="en-US" sz="2400" dirty="0">
              <a:solidFill>
                <a:schemeClr val="bg1"/>
              </a:solidFill>
            </a:endParaRPr>
          </a:p>
          <a:p>
            <a:endParaRPr lang="en-US" sz="2400" dirty="0">
              <a:solidFill>
                <a:schemeClr val="bg1"/>
              </a:solidFill>
            </a:endParaRPr>
          </a:p>
          <a:p>
            <a:endParaRPr lang="en-US" sz="2400" dirty="0">
              <a:solidFill>
                <a:schemeClr val="bg1"/>
              </a:solidFill>
            </a:endParaRPr>
          </a:p>
          <a:p>
            <a:endParaRPr lang="en-US" sz="2400" dirty="0">
              <a:solidFill>
                <a:schemeClr val="bg1"/>
              </a:solidFill>
            </a:endParaRPr>
          </a:p>
          <a:p>
            <a:r>
              <a:rPr lang="en-US" sz="2400" dirty="0">
                <a:solidFill>
                  <a:schemeClr val="tx1">
                    <a:lumMod val="50000"/>
                  </a:schemeClr>
                </a:solidFill>
              </a:rPr>
              <a:t>As </a:t>
            </a:r>
            <a:r>
              <a:rPr lang="en-US" sz="2400" b="1" dirty="0">
                <a:solidFill>
                  <a:schemeClr val="tx1">
                    <a:lumMod val="50000"/>
                  </a:schemeClr>
                </a:solidFill>
              </a:rPr>
              <a:t>Data Producer Integrated Advice owns </a:t>
            </a:r>
            <a:r>
              <a:rPr lang="en-US" sz="2400" dirty="0">
                <a:solidFill>
                  <a:schemeClr val="tx1">
                    <a:lumMod val="50000"/>
                  </a:schemeClr>
                </a:solidFill>
              </a:rPr>
              <a:t>the </a:t>
            </a:r>
            <a:r>
              <a:rPr lang="en-US" sz="2400" b="1" dirty="0">
                <a:solidFill>
                  <a:schemeClr val="tx1">
                    <a:lumMod val="50000"/>
                  </a:schemeClr>
                </a:solidFill>
              </a:rPr>
              <a:t>Raw data </a:t>
            </a:r>
            <a:r>
              <a:rPr lang="en-US" sz="2400" dirty="0">
                <a:solidFill>
                  <a:schemeClr val="tx1">
                    <a:lumMod val="50000"/>
                  </a:schemeClr>
                </a:solidFill>
              </a:rPr>
              <a:t>and </a:t>
            </a:r>
            <a:r>
              <a:rPr lang="en-US" sz="2400" b="1" dirty="0">
                <a:solidFill>
                  <a:schemeClr val="tx1">
                    <a:lumMod val="50000"/>
                  </a:schemeClr>
                </a:solidFill>
              </a:rPr>
              <a:t>Generation 1</a:t>
            </a:r>
            <a:r>
              <a:rPr lang="en-US" sz="2400" dirty="0">
                <a:solidFill>
                  <a:schemeClr val="tx1">
                    <a:lumMod val="50000"/>
                  </a:schemeClr>
                </a:solidFill>
              </a:rPr>
              <a:t> data products. </a:t>
            </a:r>
          </a:p>
          <a:p>
            <a:r>
              <a:rPr lang="en-US" sz="2400" dirty="0">
                <a:solidFill>
                  <a:schemeClr val="tx1">
                    <a:lumMod val="50000"/>
                  </a:schemeClr>
                </a:solidFill>
              </a:rPr>
              <a:t>Generation 1 data products do not include transformations and calculations, but are the raw data modelled to align to enterprise standards within a specific domain.</a:t>
            </a:r>
          </a:p>
          <a:p>
            <a:r>
              <a:rPr lang="en-US" sz="2400" dirty="0">
                <a:solidFill>
                  <a:schemeClr val="tx1">
                    <a:lumMod val="50000"/>
                  </a:schemeClr>
                </a:solidFill>
              </a:rPr>
              <a:t>As </a:t>
            </a:r>
            <a:r>
              <a:rPr lang="en-US" sz="2400" b="1" dirty="0">
                <a:solidFill>
                  <a:schemeClr val="tx1">
                    <a:lumMod val="50000"/>
                  </a:schemeClr>
                </a:solidFill>
              </a:rPr>
              <a:t>Data Consumers the BI Teams own </a:t>
            </a:r>
            <a:r>
              <a:rPr lang="en-US" sz="2400" dirty="0">
                <a:solidFill>
                  <a:schemeClr val="tx1">
                    <a:lumMod val="50000"/>
                  </a:schemeClr>
                </a:solidFill>
              </a:rPr>
              <a:t>any </a:t>
            </a:r>
            <a:r>
              <a:rPr lang="en-US" sz="2400" b="1" dirty="0">
                <a:solidFill>
                  <a:schemeClr val="tx1">
                    <a:lumMod val="50000"/>
                  </a:schemeClr>
                </a:solidFill>
              </a:rPr>
              <a:t>Generation 2 and 3 </a:t>
            </a:r>
            <a:r>
              <a:rPr lang="en-US" sz="2400" dirty="0">
                <a:solidFill>
                  <a:schemeClr val="tx1">
                    <a:lumMod val="50000"/>
                  </a:schemeClr>
                </a:solidFill>
              </a:rPr>
              <a:t>data products – this is where the aggregations, transformations and consolidations happen across various domains.</a:t>
            </a:r>
          </a:p>
          <a:p>
            <a:pPr marL="0" indent="0">
              <a:buNone/>
            </a:pPr>
            <a:endParaRPr lang="en-US" sz="2400" dirty="0">
              <a:solidFill>
                <a:schemeClr val="tx1">
                  <a:lumMod val="50000"/>
                </a:schemeClr>
              </a:solidFill>
            </a:endParaRPr>
          </a:p>
        </p:txBody>
      </p:sp>
      <p:sp>
        <p:nvSpPr>
          <p:cNvPr id="7" name="Rectangle: Rounded Corners 6">
            <a:extLst>
              <a:ext uri="{FF2B5EF4-FFF2-40B4-BE49-F238E27FC236}">
                <a16:creationId xmlns:a16="http://schemas.microsoft.com/office/drawing/2014/main" id="{D7BA1CD1-688C-015B-6A59-5F2D887E2A27}"/>
              </a:ext>
            </a:extLst>
          </p:cNvPr>
          <p:cNvSpPr/>
          <p:nvPr/>
        </p:nvSpPr>
        <p:spPr>
          <a:xfrm>
            <a:off x="644604" y="1931624"/>
            <a:ext cx="8740025" cy="285865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itle 32">
            <a:extLst>
              <a:ext uri="{FF2B5EF4-FFF2-40B4-BE49-F238E27FC236}">
                <a16:creationId xmlns:a16="http://schemas.microsoft.com/office/drawing/2014/main" id="{0E0CB126-C9DE-8BEA-AFFD-F4756576D7C7}"/>
              </a:ext>
            </a:extLst>
          </p:cNvPr>
          <p:cNvSpPr>
            <a:spLocks noGrp="1"/>
          </p:cNvSpPr>
          <p:nvPr>
            <p:ph type="title"/>
          </p:nvPr>
        </p:nvSpPr>
        <p:spPr>
          <a:xfrm>
            <a:off x="605170" y="562294"/>
            <a:ext cx="8580507" cy="685941"/>
          </a:xfrm>
        </p:spPr>
        <p:txBody>
          <a:bodyPr anchor="t">
            <a:normAutofit/>
          </a:bodyPr>
          <a:lstStyle/>
          <a:p>
            <a:pPr algn="l"/>
            <a:r>
              <a:rPr lang="en-US" sz="3200" dirty="0">
                <a:solidFill>
                  <a:srgbClr val="28413A"/>
                </a:solidFill>
              </a:rPr>
              <a:t>What we are solving for (definitions):</a:t>
            </a:r>
            <a:endParaRPr lang="en-US" sz="4800" dirty="0">
              <a:solidFill>
                <a:srgbClr val="28413A"/>
              </a:solidFill>
            </a:endParaRPr>
          </a:p>
        </p:txBody>
      </p:sp>
      <p:pic>
        <p:nvPicPr>
          <p:cNvPr id="4" name="Picture 3" descr="A diagram of a business context&#10;&#10;AI-generated content may be incorrect.">
            <a:extLst>
              <a:ext uri="{FF2B5EF4-FFF2-40B4-BE49-F238E27FC236}">
                <a16:creationId xmlns:a16="http://schemas.microsoft.com/office/drawing/2014/main" id="{DEB727E9-0F08-684D-AE87-19A7BB56822F}"/>
              </a:ext>
            </a:extLst>
          </p:cNvPr>
          <p:cNvPicPr>
            <a:picLocks noChangeAspect="1"/>
          </p:cNvPicPr>
          <p:nvPr/>
        </p:nvPicPr>
        <p:blipFill>
          <a:blip r:embed="rId2"/>
          <a:stretch>
            <a:fillRect/>
          </a:stretch>
        </p:blipFill>
        <p:spPr>
          <a:xfrm>
            <a:off x="1009354" y="2075076"/>
            <a:ext cx="8010525" cy="2571750"/>
          </a:xfrm>
          <a:prstGeom prst="rect">
            <a:avLst/>
          </a:prstGeom>
        </p:spPr>
      </p:pic>
    </p:spTree>
    <p:extLst>
      <p:ext uri="{BB962C8B-B14F-4D97-AF65-F5344CB8AC3E}">
        <p14:creationId xmlns:p14="http://schemas.microsoft.com/office/powerpoint/2010/main" val="65608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E1120-EB8F-7269-099F-DDB43E267E04}"/>
            </a:ext>
          </a:extLst>
        </p:cNvPr>
        <p:cNvGrpSpPr/>
        <p:nvPr/>
      </p:nvGrpSpPr>
      <p:grpSpPr>
        <a:xfrm>
          <a:off x="0" y="0"/>
          <a:ext cx="0" cy="0"/>
          <a:chOff x="0" y="0"/>
          <a:chExt cx="0" cy="0"/>
        </a:xfrm>
      </p:grpSpPr>
      <p:sp>
        <p:nvSpPr>
          <p:cNvPr id="2" name="Subtitle 10">
            <a:extLst>
              <a:ext uri="{FF2B5EF4-FFF2-40B4-BE49-F238E27FC236}">
                <a16:creationId xmlns:a16="http://schemas.microsoft.com/office/drawing/2014/main" id="{6C6303B4-70A9-77BA-C275-2F78EC7E6C3C}"/>
              </a:ext>
            </a:extLst>
          </p:cNvPr>
          <p:cNvSpPr txBox="1">
            <a:spLocks/>
          </p:cNvSpPr>
          <p:nvPr/>
        </p:nvSpPr>
        <p:spPr>
          <a:xfrm>
            <a:off x="605170" y="1118444"/>
            <a:ext cx="9933064" cy="557627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A5A5C"/>
                </a:solidFill>
                <a:latin typeface="Avenir" panose="0200050302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A5A5C"/>
                </a:solidFill>
                <a:latin typeface="Avenir" panose="0200050302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A5A5C"/>
                </a:solidFill>
                <a:latin typeface="Avenir" panose="0200050302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olidFill>
                  <a:schemeClr val="tx1">
                    <a:lumMod val="50000"/>
                  </a:schemeClr>
                </a:solidFill>
                <a:ea typeface="Calibri" panose="020F0502020204030204" pitchFamily="34" charset="0"/>
                <a:cs typeface="Times New Roman" panose="02020603050405020304" pitchFamily="18" charset="0"/>
              </a:rPr>
              <a:t>The business have requested that we also provide an additional layer, a 1.5 that </a:t>
            </a:r>
            <a:r>
              <a:rPr lang="en-GB" sz="2400" b="1" dirty="0">
                <a:solidFill>
                  <a:schemeClr val="tx1">
                    <a:lumMod val="50000"/>
                  </a:schemeClr>
                </a:solidFill>
                <a:ea typeface="Calibri" panose="020F0502020204030204" pitchFamily="34" charset="0"/>
                <a:cs typeface="Times New Roman" panose="02020603050405020304" pitchFamily="18" charset="0"/>
              </a:rPr>
              <a:t>brings together the important data points in a standard way</a:t>
            </a:r>
            <a:r>
              <a:rPr lang="en-GB" sz="2400" dirty="0">
                <a:solidFill>
                  <a:schemeClr val="tx1">
                    <a:lumMod val="50000"/>
                  </a:schemeClr>
                </a:solidFill>
                <a:ea typeface="Calibri" panose="020F0502020204030204" pitchFamily="34" charset="0"/>
                <a:cs typeface="Times New Roman" panose="02020603050405020304" pitchFamily="18" charset="0"/>
              </a:rPr>
              <a:t>. There is a need for meaningful, trusted, curated data for Advice related reporting. A single source of Advice insights.</a:t>
            </a:r>
          </a:p>
          <a:p>
            <a:pPr marL="0" indent="0">
              <a:buNone/>
            </a:pPr>
            <a:endParaRPr lang="en-GB" sz="2400" dirty="0">
              <a:solidFill>
                <a:schemeClr val="tx1">
                  <a:lumMod val="50000"/>
                </a:schemeClr>
              </a:solidFill>
              <a:ea typeface="Calibri" panose="020F0502020204030204" pitchFamily="34" charset="0"/>
              <a:cs typeface="Times New Roman" panose="02020603050405020304" pitchFamily="18" charset="0"/>
            </a:endParaRPr>
          </a:p>
          <a:p>
            <a:pPr marL="0" indent="0">
              <a:buNone/>
            </a:pPr>
            <a:r>
              <a:rPr lang="en-GB" sz="2400" dirty="0">
                <a:solidFill>
                  <a:schemeClr val="tx1">
                    <a:lumMod val="50000"/>
                  </a:schemeClr>
                </a:solidFill>
                <a:ea typeface="Calibri" panose="020F0502020204030204" pitchFamily="34" charset="0"/>
                <a:cs typeface="Times New Roman" panose="02020603050405020304" pitchFamily="18" charset="0"/>
              </a:rPr>
              <a:t>This will sit </a:t>
            </a:r>
            <a:r>
              <a:rPr lang="en-GB" sz="2400" b="1" dirty="0">
                <a:solidFill>
                  <a:schemeClr val="tx1">
                    <a:lumMod val="50000"/>
                  </a:schemeClr>
                </a:solidFill>
                <a:ea typeface="Calibri" panose="020F0502020204030204" pitchFamily="34" charset="0"/>
                <a:cs typeface="Times New Roman" panose="02020603050405020304" pitchFamily="18" charset="0"/>
              </a:rPr>
              <a:t>between layers 1 and 2 </a:t>
            </a:r>
            <a:r>
              <a:rPr lang="en-GB" sz="2400" dirty="0">
                <a:solidFill>
                  <a:schemeClr val="tx1">
                    <a:lumMod val="50000"/>
                  </a:schemeClr>
                </a:solidFill>
                <a:ea typeface="Calibri" panose="020F0502020204030204" pitchFamily="34" charset="0"/>
                <a:cs typeface="Times New Roman" panose="02020603050405020304" pitchFamily="18" charset="0"/>
              </a:rPr>
              <a:t>and will consist of </a:t>
            </a:r>
            <a:r>
              <a:rPr lang="en-GB" sz="2400" b="1" dirty="0">
                <a:solidFill>
                  <a:schemeClr val="tx1">
                    <a:lumMod val="50000"/>
                  </a:schemeClr>
                </a:solidFill>
                <a:ea typeface="Calibri" panose="020F0502020204030204" pitchFamily="34" charset="0"/>
                <a:cs typeface="Times New Roman" panose="02020603050405020304" pitchFamily="18" charset="0"/>
              </a:rPr>
              <a:t>consolidations and aggregations within the Elite Wealth domain</a:t>
            </a:r>
            <a:r>
              <a:rPr lang="en-GB" sz="2400" dirty="0">
                <a:solidFill>
                  <a:schemeClr val="tx1">
                    <a:lumMod val="50000"/>
                  </a:schemeClr>
                </a:solidFill>
                <a:ea typeface="Calibri" panose="020F0502020204030204" pitchFamily="34" charset="0"/>
                <a:cs typeface="Times New Roman" panose="02020603050405020304" pitchFamily="18" charset="0"/>
              </a:rPr>
              <a:t>.</a:t>
            </a:r>
          </a:p>
          <a:p>
            <a:pPr marL="0" indent="0">
              <a:buNone/>
            </a:pPr>
            <a:endParaRPr lang="en-GB" sz="2400" dirty="0">
              <a:solidFill>
                <a:schemeClr val="tx1">
                  <a:lumMod val="50000"/>
                </a:schemeClr>
              </a:solidFill>
              <a:ea typeface="Calibri" panose="020F0502020204030204" pitchFamily="34" charset="0"/>
              <a:cs typeface="Times New Roman" panose="02020603050405020304" pitchFamily="18" charset="0"/>
            </a:endParaRPr>
          </a:p>
          <a:p>
            <a:pPr marL="0" indent="0">
              <a:buNone/>
            </a:pPr>
            <a:r>
              <a:rPr lang="en-GB" sz="2400" dirty="0">
                <a:solidFill>
                  <a:schemeClr val="tx1">
                    <a:lumMod val="50000"/>
                  </a:schemeClr>
                </a:solidFill>
                <a:ea typeface="Calibri" panose="020F0502020204030204" pitchFamily="34" charset="0"/>
                <a:cs typeface="Times New Roman" panose="02020603050405020304" pitchFamily="18" charset="0"/>
              </a:rPr>
              <a:t>This layer will be used by the Data Consumers across the bank as a foundation to build their Generation 2 and 3 data products. </a:t>
            </a:r>
          </a:p>
          <a:p>
            <a:pPr marL="0" indent="0">
              <a:buNone/>
            </a:pPr>
            <a:endParaRPr lang="en-GB" sz="2400" dirty="0">
              <a:solidFill>
                <a:schemeClr val="tx1">
                  <a:lumMod val="50000"/>
                </a:schemeClr>
              </a:solidFill>
              <a:ea typeface="Calibri" panose="020F0502020204030204" pitchFamily="34" charset="0"/>
              <a:cs typeface="Times New Roman" panose="02020603050405020304" pitchFamily="18" charset="0"/>
            </a:endParaRPr>
          </a:p>
          <a:p>
            <a:endParaRPr lang="en-US" sz="2400" dirty="0">
              <a:solidFill>
                <a:schemeClr val="bg1"/>
              </a:solidFill>
            </a:endParaRPr>
          </a:p>
          <a:p>
            <a:pPr marL="0" indent="0">
              <a:buNone/>
            </a:pPr>
            <a:endParaRPr lang="en-US" sz="2400" dirty="0">
              <a:solidFill>
                <a:schemeClr val="tx1">
                  <a:lumMod val="50000"/>
                </a:schemeClr>
              </a:solidFill>
            </a:endParaRPr>
          </a:p>
        </p:txBody>
      </p:sp>
      <p:sp>
        <p:nvSpPr>
          <p:cNvPr id="33" name="Title 32">
            <a:extLst>
              <a:ext uri="{FF2B5EF4-FFF2-40B4-BE49-F238E27FC236}">
                <a16:creationId xmlns:a16="http://schemas.microsoft.com/office/drawing/2014/main" id="{4C41367F-5717-DA78-7695-FF7887C8E448}"/>
              </a:ext>
            </a:extLst>
          </p:cNvPr>
          <p:cNvSpPr>
            <a:spLocks noGrp="1"/>
          </p:cNvSpPr>
          <p:nvPr>
            <p:ph type="title"/>
          </p:nvPr>
        </p:nvSpPr>
        <p:spPr>
          <a:xfrm>
            <a:off x="605170" y="562294"/>
            <a:ext cx="8580507" cy="685941"/>
          </a:xfrm>
        </p:spPr>
        <p:txBody>
          <a:bodyPr anchor="t">
            <a:normAutofit fontScale="90000"/>
          </a:bodyPr>
          <a:lstStyle/>
          <a:p>
            <a:pPr algn="l"/>
            <a:r>
              <a:rPr lang="en-US" sz="3200" dirty="0">
                <a:solidFill>
                  <a:srgbClr val="28413A"/>
                </a:solidFill>
              </a:rPr>
              <a:t>What we are solving for (definitions continued):</a:t>
            </a:r>
            <a:endParaRPr lang="en-US" sz="4800" dirty="0">
              <a:solidFill>
                <a:srgbClr val="28413A"/>
              </a:solidFill>
            </a:endParaRPr>
          </a:p>
        </p:txBody>
      </p:sp>
    </p:spTree>
    <p:extLst>
      <p:ext uri="{BB962C8B-B14F-4D97-AF65-F5344CB8AC3E}">
        <p14:creationId xmlns:p14="http://schemas.microsoft.com/office/powerpoint/2010/main" val="1031670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0">
            <a:extLst>
              <a:ext uri="{FF2B5EF4-FFF2-40B4-BE49-F238E27FC236}">
                <a16:creationId xmlns:a16="http://schemas.microsoft.com/office/drawing/2014/main" id="{7BDFA670-5C61-9E2A-B898-C5906930E574}"/>
              </a:ext>
            </a:extLst>
          </p:cNvPr>
          <p:cNvSpPr txBox="1">
            <a:spLocks/>
          </p:cNvSpPr>
          <p:nvPr/>
        </p:nvSpPr>
        <p:spPr>
          <a:xfrm>
            <a:off x="605170" y="1118444"/>
            <a:ext cx="9933064" cy="5576270"/>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A5A5C"/>
                </a:solidFill>
                <a:latin typeface="Avenir" panose="0200050302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A5A5C"/>
                </a:solidFill>
                <a:latin typeface="Avenir" panose="0200050302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A5A5C"/>
                </a:solidFill>
                <a:latin typeface="Avenir" panose="0200050302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olidFill>
                  <a:schemeClr val="tx1">
                    <a:lumMod val="50000"/>
                  </a:schemeClr>
                </a:solidFill>
                <a:ea typeface="Calibri" panose="020F0502020204030204" pitchFamily="34" charset="0"/>
                <a:cs typeface="Times New Roman" panose="02020603050405020304" pitchFamily="18" charset="0"/>
              </a:rPr>
              <a:t>There are 8 DBs on SQL07 that contain Elite Wealth and associated derived data (including one for the AS400 data)(data as at 2024/01/08):</a:t>
            </a:r>
          </a:p>
          <a:p>
            <a:pPr marL="0" indent="0">
              <a:buNone/>
            </a:pPr>
            <a:endParaRPr lang="en-GB" sz="2400" dirty="0">
              <a:solidFill>
                <a:schemeClr val="tx1">
                  <a:lumMod val="50000"/>
                </a:schemeClr>
              </a:solidFill>
              <a:ea typeface="Calibri" panose="020F0502020204030204" pitchFamily="34" charset="0"/>
              <a:cs typeface="Times New Roman" panose="02020603050405020304" pitchFamily="18" charset="0"/>
            </a:endParaRPr>
          </a:p>
          <a:p>
            <a:pPr marL="0" indent="0">
              <a:buNone/>
            </a:pPr>
            <a:endParaRPr lang="en-GB" sz="2400" dirty="0">
              <a:solidFill>
                <a:schemeClr val="tx1">
                  <a:lumMod val="50000"/>
                </a:schemeClr>
              </a:solidFill>
              <a:ea typeface="Calibri" panose="020F0502020204030204" pitchFamily="34" charset="0"/>
              <a:cs typeface="Times New Roman" panose="02020603050405020304" pitchFamily="18" charset="0"/>
            </a:endParaRPr>
          </a:p>
          <a:p>
            <a:endParaRPr lang="en-US" sz="2400" dirty="0">
              <a:solidFill>
                <a:schemeClr val="bg1"/>
              </a:solidFill>
            </a:endParaRPr>
          </a:p>
          <a:p>
            <a:endParaRPr lang="en-US" sz="2400" dirty="0">
              <a:solidFill>
                <a:schemeClr val="bg1"/>
              </a:solidFill>
            </a:endParaRPr>
          </a:p>
          <a:p>
            <a:endParaRPr lang="en-US" sz="2400" dirty="0">
              <a:solidFill>
                <a:schemeClr val="bg1"/>
              </a:solidFill>
            </a:endParaRPr>
          </a:p>
          <a:p>
            <a:endParaRPr lang="en-US" sz="2400" dirty="0">
              <a:solidFill>
                <a:schemeClr val="bg1"/>
              </a:solidFill>
            </a:endParaRPr>
          </a:p>
          <a:p>
            <a:pPr marL="0" indent="0">
              <a:buNone/>
            </a:pPr>
            <a:endParaRPr lang="en-US" sz="2400" dirty="0">
              <a:solidFill>
                <a:schemeClr val="tx1">
                  <a:lumMod val="50000"/>
                </a:schemeClr>
              </a:solidFill>
            </a:endParaRPr>
          </a:p>
          <a:p>
            <a:pPr marL="0" indent="0">
              <a:buNone/>
            </a:pPr>
            <a:r>
              <a:rPr lang="en-US" sz="2400" dirty="0">
                <a:solidFill>
                  <a:schemeClr val="tx1">
                    <a:lumMod val="50000"/>
                  </a:schemeClr>
                </a:solidFill>
              </a:rPr>
              <a:t>Questions:</a:t>
            </a:r>
          </a:p>
          <a:p>
            <a:r>
              <a:rPr lang="en-US" sz="2400" dirty="0">
                <a:solidFill>
                  <a:schemeClr val="tx1">
                    <a:lumMod val="50000"/>
                  </a:schemeClr>
                </a:solidFill>
              </a:rPr>
              <a:t>Who is using all this data?</a:t>
            </a:r>
          </a:p>
          <a:p>
            <a:r>
              <a:rPr lang="en-US" sz="2400" dirty="0">
                <a:solidFill>
                  <a:schemeClr val="tx1">
                    <a:lumMod val="50000"/>
                  </a:schemeClr>
                </a:solidFill>
              </a:rPr>
              <a:t>There is a lot of duplication. Does all this data and all its associated processes need to be migrated? </a:t>
            </a:r>
          </a:p>
          <a:p>
            <a:pPr marL="0" indent="0">
              <a:buNone/>
            </a:pPr>
            <a:r>
              <a:rPr lang="en-US" sz="2400" dirty="0">
                <a:solidFill>
                  <a:schemeClr val="tx1">
                    <a:lumMod val="50000"/>
                  </a:schemeClr>
                </a:solidFill>
              </a:rPr>
              <a:t>There are no clear answers to these questions as the people who created the data and processes have moved on.</a:t>
            </a:r>
          </a:p>
        </p:txBody>
      </p:sp>
      <p:sp>
        <p:nvSpPr>
          <p:cNvPr id="33" name="Title 32">
            <a:extLst>
              <a:ext uri="{FF2B5EF4-FFF2-40B4-BE49-F238E27FC236}">
                <a16:creationId xmlns:a16="http://schemas.microsoft.com/office/drawing/2014/main" id="{0E0CB126-C9DE-8BEA-AFFD-F4756576D7C7}"/>
              </a:ext>
            </a:extLst>
          </p:cNvPr>
          <p:cNvSpPr>
            <a:spLocks noGrp="1"/>
          </p:cNvSpPr>
          <p:nvPr>
            <p:ph type="title"/>
          </p:nvPr>
        </p:nvSpPr>
        <p:spPr>
          <a:xfrm>
            <a:off x="605170" y="562294"/>
            <a:ext cx="8580507" cy="685941"/>
          </a:xfrm>
        </p:spPr>
        <p:txBody>
          <a:bodyPr anchor="t">
            <a:normAutofit/>
          </a:bodyPr>
          <a:lstStyle/>
          <a:p>
            <a:pPr algn="l"/>
            <a:r>
              <a:rPr lang="en-US" sz="3200" dirty="0">
                <a:solidFill>
                  <a:srgbClr val="28413A"/>
                </a:solidFill>
              </a:rPr>
              <a:t>What we are solving for (DBs):</a:t>
            </a:r>
            <a:endParaRPr lang="en-US" sz="4800" dirty="0">
              <a:solidFill>
                <a:srgbClr val="28413A"/>
              </a:solidFill>
            </a:endParaRPr>
          </a:p>
        </p:txBody>
      </p:sp>
      <p:pic>
        <p:nvPicPr>
          <p:cNvPr id="14" name="Picture 13">
            <a:extLst>
              <a:ext uri="{FF2B5EF4-FFF2-40B4-BE49-F238E27FC236}">
                <a16:creationId xmlns:a16="http://schemas.microsoft.com/office/drawing/2014/main" id="{12B629E4-48B3-E52C-0925-759D9A3992B4}"/>
              </a:ext>
            </a:extLst>
          </p:cNvPr>
          <p:cNvPicPr>
            <a:picLocks noChangeAspect="1"/>
          </p:cNvPicPr>
          <p:nvPr/>
        </p:nvPicPr>
        <p:blipFill>
          <a:blip r:embed="rId3"/>
          <a:stretch>
            <a:fillRect/>
          </a:stretch>
        </p:blipFill>
        <p:spPr>
          <a:xfrm>
            <a:off x="605170" y="1943095"/>
            <a:ext cx="7738730" cy="2434656"/>
          </a:xfrm>
          <a:prstGeom prst="rect">
            <a:avLst/>
          </a:prstGeom>
        </p:spPr>
      </p:pic>
    </p:spTree>
    <p:extLst>
      <p:ext uri="{BB962C8B-B14F-4D97-AF65-F5344CB8AC3E}">
        <p14:creationId xmlns:p14="http://schemas.microsoft.com/office/powerpoint/2010/main" val="150919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0E0CB126-C9DE-8BEA-AFFD-F4756576D7C7}"/>
              </a:ext>
            </a:extLst>
          </p:cNvPr>
          <p:cNvSpPr>
            <a:spLocks noGrp="1"/>
          </p:cNvSpPr>
          <p:nvPr>
            <p:ph type="title"/>
          </p:nvPr>
        </p:nvSpPr>
        <p:spPr>
          <a:xfrm>
            <a:off x="605169" y="562294"/>
            <a:ext cx="9514191" cy="685941"/>
          </a:xfrm>
        </p:spPr>
        <p:txBody>
          <a:bodyPr anchor="t">
            <a:normAutofit/>
          </a:bodyPr>
          <a:lstStyle/>
          <a:p>
            <a:pPr algn="l"/>
            <a:r>
              <a:rPr lang="en-US" sz="3200" dirty="0">
                <a:solidFill>
                  <a:srgbClr val="28413A"/>
                </a:solidFill>
              </a:rPr>
              <a:t>What we are solving for (data products - Pharos):</a:t>
            </a:r>
            <a:endParaRPr lang="en-US" sz="4800" dirty="0">
              <a:solidFill>
                <a:srgbClr val="28413A"/>
              </a:solidFill>
            </a:endParaRPr>
          </a:p>
        </p:txBody>
      </p:sp>
      <p:sp>
        <p:nvSpPr>
          <p:cNvPr id="2" name="Subtitle 10">
            <a:extLst>
              <a:ext uri="{FF2B5EF4-FFF2-40B4-BE49-F238E27FC236}">
                <a16:creationId xmlns:a16="http://schemas.microsoft.com/office/drawing/2014/main" id="{7BDFA670-5C61-9E2A-B898-C5906930E574}"/>
              </a:ext>
            </a:extLst>
          </p:cNvPr>
          <p:cNvSpPr txBox="1">
            <a:spLocks/>
          </p:cNvSpPr>
          <p:nvPr/>
        </p:nvSpPr>
        <p:spPr>
          <a:xfrm>
            <a:off x="605169" y="1091913"/>
            <a:ext cx="10334973" cy="506994"/>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A5A5C"/>
                </a:solidFill>
                <a:latin typeface="Avenir" panose="0200050302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A5A5C"/>
                </a:solidFill>
                <a:latin typeface="Avenir" panose="0200050302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A5A5C"/>
                </a:solidFill>
                <a:latin typeface="Avenir" panose="0200050302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olidFill>
                  <a:schemeClr val="tx1">
                    <a:lumMod val="50000"/>
                  </a:schemeClr>
                </a:solidFill>
                <a:ea typeface="Calibri" panose="020F0502020204030204" pitchFamily="34" charset="0"/>
                <a:cs typeface="Times New Roman" panose="02020603050405020304" pitchFamily="18" charset="0"/>
              </a:rPr>
              <a:t>The 18 second generation data products identified for migration from Pharos are as follows (data as at 2025/06/20):  </a:t>
            </a:r>
          </a:p>
          <a:p>
            <a:endParaRPr lang="en-US" sz="2400" dirty="0">
              <a:solidFill>
                <a:schemeClr val="bg1"/>
              </a:solidFill>
            </a:endParaRPr>
          </a:p>
        </p:txBody>
      </p:sp>
      <p:pic>
        <p:nvPicPr>
          <p:cNvPr id="4" name="Picture 3">
            <a:extLst>
              <a:ext uri="{FF2B5EF4-FFF2-40B4-BE49-F238E27FC236}">
                <a16:creationId xmlns:a16="http://schemas.microsoft.com/office/drawing/2014/main" id="{D8B69BF0-59FD-9A3B-06A4-ECC979E8A42E}"/>
              </a:ext>
            </a:extLst>
          </p:cNvPr>
          <p:cNvPicPr>
            <a:picLocks noChangeAspect="1"/>
          </p:cNvPicPr>
          <p:nvPr/>
        </p:nvPicPr>
        <p:blipFill>
          <a:blip r:embed="rId2"/>
          <a:stretch>
            <a:fillRect/>
          </a:stretch>
        </p:blipFill>
        <p:spPr>
          <a:xfrm>
            <a:off x="605169" y="1638926"/>
            <a:ext cx="9131683" cy="4928210"/>
          </a:xfrm>
          <a:prstGeom prst="rect">
            <a:avLst/>
          </a:prstGeom>
        </p:spPr>
      </p:pic>
    </p:spTree>
    <p:extLst>
      <p:ext uri="{BB962C8B-B14F-4D97-AF65-F5344CB8AC3E}">
        <p14:creationId xmlns:p14="http://schemas.microsoft.com/office/powerpoint/2010/main" val="4242438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0">
            <a:extLst>
              <a:ext uri="{FF2B5EF4-FFF2-40B4-BE49-F238E27FC236}">
                <a16:creationId xmlns:a16="http://schemas.microsoft.com/office/drawing/2014/main" id="{7BDFA670-5C61-9E2A-B898-C5906930E574}"/>
              </a:ext>
            </a:extLst>
          </p:cNvPr>
          <p:cNvSpPr txBox="1">
            <a:spLocks/>
          </p:cNvSpPr>
          <p:nvPr/>
        </p:nvSpPr>
        <p:spPr>
          <a:xfrm>
            <a:off x="605170" y="1118444"/>
            <a:ext cx="9933064" cy="557627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A5A5C"/>
                </a:solidFill>
                <a:latin typeface="Avenir" panose="0200050302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A5A5C"/>
                </a:solidFill>
                <a:latin typeface="Avenir" panose="0200050302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A5A5C"/>
                </a:solidFill>
                <a:latin typeface="Avenir" panose="0200050302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olidFill>
                  <a:schemeClr val="tx1">
                    <a:lumMod val="50000"/>
                  </a:schemeClr>
                </a:solidFill>
                <a:ea typeface="Calibri" panose="020F0502020204030204" pitchFamily="34" charset="0"/>
                <a:cs typeface="Times New Roman" panose="02020603050405020304" pitchFamily="18" charset="0"/>
              </a:rPr>
              <a:t>The following factors must also be considered:</a:t>
            </a:r>
          </a:p>
          <a:p>
            <a:r>
              <a:rPr lang="en-GB" sz="2400" dirty="0">
                <a:solidFill>
                  <a:schemeClr val="tx1">
                    <a:lumMod val="50000"/>
                  </a:schemeClr>
                </a:solidFill>
                <a:ea typeface="Calibri" panose="020F0502020204030204" pitchFamily="34" charset="0"/>
                <a:cs typeface="Times New Roman" panose="02020603050405020304" pitchFamily="18" charset="0"/>
              </a:rPr>
              <a:t>As </a:t>
            </a:r>
            <a:r>
              <a:rPr lang="en-GB" sz="2400" b="1" dirty="0">
                <a:solidFill>
                  <a:schemeClr val="tx1">
                    <a:lumMod val="50000"/>
                  </a:schemeClr>
                </a:solidFill>
                <a:ea typeface="Calibri" panose="020F0502020204030204" pitchFamily="34" charset="0"/>
                <a:cs typeface="Times New Roman" panose="02020603050405020304" pitchFamily="18" charset="0"/>
              </a:rPr>
              <a:t>data producers </a:t>
            </a:r>
            <a:r>
              <a:rPr lang="en-GB" sz="2400" dirty="0">
                <a:solidFill>
                  <a:schemeClr val="tx1">
                    <a:lumMod val="50000"/>
                  </a:schemeClr>
                </a:solidFill>
                <a:ea typeface="Calibri" panose="020F0502020204030204" pitchFamily="34" charset="0"/>
                <a:cs typeface="Times New Roman" panose="02020603050405020304" pitchFamily="18" charset="0"/>
              </a:rPr>
              <a:t>we don’t own the entirety of the DBs – we are only </a:t>
            </a:r>
            <a:r>
              <a:rPr lang="en-GB" sz="2400" b="1" dirty="0">
                <a:solidFill>
                  <a:schemeClr val="tx1">
                    <a:lumMod val="50000"/>
                  </a:schemeClr>
                </a:solidFill>
                <a:ea typeface="Calibri" panose="020F0502020204030204" pitchFamily="34" charset="0"/>
                <a:cs typeface="Times New Roman" panose="02020603050405020304" pitchFamily="18" charset="0"/>
              </a:rPr>
              <a:t>responsible for Generation 1 portion </a:t>
            </a:r>
            <a:r>
              <a:rPr lang="en-GB" sz="2400" dirty="0">
                <a:solidFill>
                  <a:schemeClr val="tx1">
                    <a:lumMod val="50000"/>
                  </a:schemeClr>
                </a:solidFill>
                <a:ea typeface="Calibri" panose="020F0502020204030204" pitchFamily="34" charset="0"/>
                <a:cs typeface="Times New Roman" panose="02020603050405020304" pitchFamily="18" charset="0"/>
              </a:rPr>
              <a:t>of the data. </a:t>
            </a:r>
          </a:p>
          <a:p>
            <a:r>
              <a:rPr lang="en-GB" sz="2400" dirty="0">
                <a:solidFill>
                  <a:schemeClr val="tx1">
                    <a:lumMod val="50000"/>
                  </a:schemeClr>
                </a:solidFill>
                <a:ea typeface="Calibri" panose="020F0502020204030204" pitchFamily="34" charset="0"/>
                <a:cs typeface="Times New Roman" panose="02020603050405020304" pitchFamily="18" charset="0"/>
              </a:rPr>
              <a:t>Our business has requested an additional later to ensure the standardisation of the data across the bank – </a:t>
            </a:r>
            <a:r>
              <a:rPr lang="en-GB" sz="2400" b="1" dirty="0">
                <a:solidFill>
                  <a:schemeClr val="tx1">
                    <a:lumMod val="50000"/>
                  </a:schemeClr>
                </a:solidFill>
                <a:ea typeface="Calibri" panose="020F0502020204030204" pitchFamily="34" charset="0"/>
                <a:cs typeface="Times New Roman" panose="02020603050405020304" pitchFamily="18" charset="0"/>
              </a:rPr>
              <a:t>Generation 1.5</a:t>
            </a:r>
            <a:r>
              <a:rPr lang="en-GB" sz="2400" dirty="0">
                <a:solidFill>
                  <a:schemeClr val="tx1">
                    <a:lumMod val="50000"/>
                  </a:schemeClr>
                </a:solidFill>
                <a:ea typeface="Calibri" panose="020F0502020204030204" pitchFamily="34" charset="0"/>
                <a:cs typeface="Times New Roman" panose="02020603050405020304" pitchFamily="18" charset="0"/>
              </a:rPr>
              <a:t>. The data consumers will build their reporting on this new layer.</a:t>
            </a:r>
          </a:p>
          <a:p>
            <a:r>
              <a:rPr lang="en-GB" sz="2400" dirty="0">
                <a:solidFill>
                  <a:schemeClr val="tx1">
                    <a:lumMod val="50000"/>
                  </a:schemeClr>
                </a:solidFill>
                <a:ea typeface="Calibri" panose="020F0502020204030204" pitchFamily="34" charset="0"/>
                <a:cs typeface="Times New Roman" panose="02020603050405020304" pitchFamily="18" charset="0"/>
              </a:rPr>
              <a:t>We won’t use the Single Data Pipeline or the EDW as we don’t own the investment and risk product data models, and the product owners are not yet on platform. This means the </a:t>
            </a:r>
            <a:r>
              <a:rPr lang="en-GB" sz="2400" b="1" dirty="0">
                <a:solidFill>
                  <a:schemeClr val="tx1">
                    <a:lumMod val="50000"/>
                  </a:schemeClr>
                </a:solidFill>
                <a:ea typeface="Calibri" panose="020F0502020204030204" pitchFamily="34" charset="0"/>
                <a:cs typeface="Times New Roman" panose="02020603050405020304" pitchFamily="18" charset="0"/>
              </a:rPr>
              <a:t>data will be stored in the Integrated Advice Tenant</a:t>
            </a:r>
            <a:r>
              <a:rPr lang="en-GB" sz="2400" dirty="0">
                <a:solidFill>
                  <a:schemeClr val="tx1">
                    <a:lumMod val="50000"/>
                  </a:schemeClr>
                </a:solidFill>
                <a:ea typeface="Calibri" panose="020F0502020204030204" pitchFamily="34" charset="0"/>
                <a:cs typeface="Times New Roman" panose="02020603050405020304" pitchFamily="18" charset="0"/>
              </a:rPr>
              <a:t>. *</a:t>
            </a:r>
          </a:p>
          <a:p>
            <a:pPr marL="0" indent="0">
              <a:buNone/>
            </a:pPr>
            <a:endParaRPr lang="en-GB" sz="2400" dirty="0">
              <a:solidFill>
                <a:schemeClr val="tx1">
                  <a:lumMod val="50000"/>
                </a:schemeClr>
              </a:solidFill>
              <a:ea typeface="Calibri" panose="020F0502020204030204" pitchFamily="34" charset="0"/>
              <a:cs typeface="Times New Roman" panose="02020603050405020304" pitchFamily="18" charset="0"/>
            </a:endParaRPr>
          </a:p>
          <a:p>
            <a:pPr marL="0" indent="0">
              <a:buNone/>
            </a:pPr>
            <a:r>
              <a:rPr lang="en-GB" sz="1800" dirty="0">
                <a:solidFill>
                  <a:schemeClr val="tx1">
                    <a:lumMod val="50000"/>
                  </a:schemeClr>
                </a:solidFill>
                <a:ea typeface="Calibri" panose="020F0502020204030204" pitchFamily="34" charset="0"/>
                <a:cs typeface="Times New Roman" panose="02020603050405020304" pitchFamily="18" charset="0"/>
              </a:rPr>
              <a:t>* Costs for using the data are born by the consumers not the producers.</a:t>
            </a:r>
          </a:p>
          <a:p>
            <a:pPr marL="0" indent="0">
              <a:buNone/>
            </a:pPr>
            <a:endParaRPr lang="en-GB" sz="2400" dirty="0">
              <a:solidFill>
                <a:schemeClr val="tx1">
                  <a:lumMod val="50000"/>
                </a:schemeClr>
              </a:solidFill>
              <a:ea typeface="Calibri" panose="020F0502020204030204" pitchFamily="34" charset="0"/>
              <a:cs typeface="Times New Roman" panose="02020603050405020304" pitchFamily="18" charset="0"/>
            </a:endParaRPr>
          </a:p>
        </p:txBody>
      </p:sp>
      <p:sp>
        <p:nvSpPr>
          <p:cNvPr id="33" name="Title 32">
            <a:extLst>
              <a:ext uri="{FF2B5EF4-FFF2-40B4-BE49-F238E27FC236}">
                <a16:creationId xmlns:a16="http://schemas.microsoft.com/office/drawing/2014/main" id="{0E0CB126-C9DE-8BEA-AFFD-F4756576D7C7}"/>
              </a:ext>
            </a:extLst>
          </p:cNvPr>
          <p:cNvSpPr>
            <a:spLocks noGrp="1"/>
          </p:cNvSpPr>
          <p:nvPr>
            <p:ph type="title"/>
          </p:nvPr>
        </p:nvSpPr>
        <p:spPr>
          <a:xfrm>
            <a:off x="605170" y="562294"/>
            <a:ext cx="8580507" cy="685941"/>
          </a:xfrm>
        </p:spPr>
        <p:txBody>
          <a:bodyPr anchor="t">
            <a:normAutofit/>
          </a:bodyPr>
          <a:lstStyle/>
          <a:p>
            <a:pPr algn="l"/>
            <a:r>
              <a:rPr lang="en-US" sz="3200" dirty="0">
                <a:solidFill>
                  <a:srgbClr val="28413A"/>
                </a:solidFill>
              </a:rPr>
              <a:t>What we are solving for (platform factors):</a:t>
            </a:r>
            <a:endParaRPr lang="en-US" sz="4800" dirty="0">
              <a:solidFill>
                <a:srgbClr val="28413A"/>
              </a:solidFill>
            </a:endParaRPr>
          </a:p>
        </p:txBody>
      </p:sp>
    </p:spTree>
    <p:extLst>
      <p:ext uri="{BB962C8B-B14F-4D97-AF65-F5344CB8AC3E}">
        <p14:creationId xmlns:p14="http://schemas.microsoft.com/office/powerpoint/2010/main" val="2055733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0E0CB126-C9DE-8BEA-AFFD-F4756576D7C7}"/>
              </a:ext>
            </a:extLst>
          </p:cNvPr>
          <p:cNvSpPr>
            <a:spLocks noGrp="1"/>
          </p:cNvSpPr>
          <p:nvPr>
            <p:ph type="title"/>
          </p:nvPr>
        </p:nvSpPr>
        <p:spPr>
          <a:xfrm>
            <a:off x="634663" y="564233"/>
            <a:ext cx="8580507" cy="685941"/>
          </a:xfrm>
        </p:spPr>
        <p:txBody>
          <a:bodyPr anchor="t">
            <a:normAutofit/>
          </a:bodyPr>
          <a:lstStyle/>
          <a:p>
            <a:r>
              <a:rPr lang="en-US" sz="3200" dirty="0">
                <a:solidFill>
                  <a:srgbClr val="DCC071"/>
                </a:solidFill>
              </a:rPr>
              <a:t>Appendix 1 – Current RACI:</a:t>
            </a:r>
            <a:endParaRPr lang="en-US" sz="4800" dirty="0">
              <a:solidFill>
                <a:srgbClr val="DCC071"/>
              </a:solidFill>
            </a:endParaRPr>
          </a:p>
        </p:txBody>
      </p:sp>
      <p:sp>
        <p:nvSpPr>
          <p:cNvPr id="2" name="Subtitle 10">
            <a:extLst>
              <a:ext uri="{FF2B5EF4-FFF2-40B4-BE49-F238E27FC236}">
                <a16:creationId xmlns:a16="http://schemas.microsoft.com/office/drawing/2014/main" id="{14A18A19-4CCD-1788-4C52-BBFD35218897}"/>
              </a:ext>
            </a:extLst>
          </p:cNvPr>
          <p:cNvSpPr txBox="1">
            <a:spLocks/>
          </p:cNvSpPr>
          <p:nvPr/>
        </p:nvSpPr>
        <p:spPr>
          <a:xfrm>
            <a:off x="777908" y="2298082"/>
            <a:ext cx="7779878" cy="405884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rgbClr val="5A5A5C"/>
                </a:solidFill>
                <a:latin typeface="Avenir" panose="020005030200000200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rgbClr val="5A5A5C"/>
                </a:solidFill>
                <a:latin typeface="Avenir" panose="020005030200000200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5A5A5C"/>
                </a:solidFill>
                <a:latin typeface="Avenir" panose="020005030200000200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rgbClr val="5A5A5C"/>
                </a:solidFill>
                <a:latin typeface="Avenir"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olidFill>
                  <a:schemeClr val="bg1"/>
                </a:solidFill>
                <a:ea typeface="Calibri" panose="020F0502020204030204" pitchFamily="34" charset="0"/>
                <a:cs typeface="Times New Roman" panose="02020603050405020304" pitchFamily="18" charset="0"/>
              </a:rPr>
              <a:t>Producing a new generation 1 of the data will solve some of these challenges – we ask the rest of the bank to move their processes over to this new dataset. </a:t>
            </a:r>
          </a:p>
          <a:p>
            <a:endParaRPr lang="en-GB" sz="2400" dirty="0">
              <a:solidFill>
                <a:schemeClr val="bg1"/>
              </a:solidFill>
              <a:ea typeface="Calibri" panose="020F0502020204030204" pitchFamily="34" charset="0"/>
              <a:cs typeface="Times New Roman" panose="02020603050405020304" pitchFamily="18" charset="0"/>
            </a:endParaRPr>
          </a:p>
          <a:p>
            <a:endParaRPr lang="en-GB" sz="2400" b="1" dirty="0">
              <a:solidFill>
                <a:schemeClr val="bg1"/>
              </a:solidFill>
              <a:ea typeface="Calibri" panose="020F0502020204030204" pitchFamily="34" charset="0"/>
              <a:cs typeface="Times New Roman" panose="02020603050405020304" pitchFamily="18" charset="0"/>
            </a:endParaRPr>
          </a:p>
          <a:p>
            <a:endParaRPr lang="en-GB" sz="2400" dirty="0">
              <a:solidFill>
                <a:schemeClr val="bg1"/>
              </a:solidFill>
              <a:ea typeface="Calibri" panose="020F0502020204030204" pitchFamily="34" charset="0"/>
              <a:cs typeface="Times New Roman" panose="02020603050405020304" pitchFamily="18" charset="0"/>
            </a:endParaRPr>
          </a:p>
          <a:p>
            <a:endParaRPr lang="en-GB" sz="2400" dirty="0">
              <a:solidFill>
                <a:schemeClr val="bg1"/>
              </a:solidFill>
              <a:ea typeface="Calibri" panose="020F0502020204030204" pitchFamily="34" charset="0"/>
              <a:cs typeface="Times New Roman" panose="02020603050405020304" pitchFamily="18" charset="0"/>
            </a:endParaRPr>
          </a:p>
          <a:p>
            <a:pPr marL="0" indent="0">
              <a:buNone/>
            </a:pPr>
            <a:endParaRPr lang="en-US" sz="2400" dirty="0">
              <a:solidFill>
                <a:schemeClr val="bg1"/>
              </a:solidFill>
            </a:endParaRPr>
          </a:p>
        </p:txBody>
      </p:sp>
      <p:pic>
        <p:nvPicPr>
          <p:cNvPr id="1026" name="Picture 2">
            <a:extLst>
              <a:ext uri="{FF2B5EF4-FFF2-40B4-BE49-F238E27FC236}">
                <a16:creationId xmlns:a16="http://schemas.microsoft.com/office/drawing/2014/main" id="{6FBC978A-E73C-ADF1-35CC-696B2A0B4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663" y="1106574"/>
            <a:ext cx="9599525" cy="5399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98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8">
            <a:extLst>
              <a:ext uri="{FF2B5EF4-FFF2-40B4-BE49-F238E27FC236}">
                <a16:creationId xmlns:a16="http://schemas.microsoft.com/office/drawing/2014/main" id="{EE0F897E-E363-B691-DD21-AB056B73D25F}"/>
              </a:ext>
            </a:extLst>
          </p:cNvPr>
          <p:cNvSpPr txBox="1">
            <a:spLocks/>
          </p:cNvSpPr>
          <p:nvPr/>
        </p:nvSpPr>
        <p:spPr>
          <a:xfrm>
            <a:off x="5976228" y="3698631"/>
            <a:ext cx="5910589" cy="1191590"/>
          </a:xfrm>
          <a:prstGeom prst="rect">
            <a:avLst/>
          </a:prstGeom>
        </p:spPr>
        <p:txBody>
          <a:bodyPr>
            <a:normAutofit/>
          </a:bodyPr>
          <a:lstStyle>
            <a:lvl1pPr algn="l" defTabSz="914400" rtl="0" eaLnBrk="1" latinLnBrk="0" hangingPunct="1">
              <a:lnSpc>
                <a:spcPct val="90000"/>
              </a:lnSpc>
              <a:spcBef>
                <a:spcPct val="0"/>
              </a:spcBef>
              <a:buNone/>
              <a:defRPr sz="4000" b="1" i="0" kern="1200">
                <a:solidFill>
                  <a:srgbClr val="5A5A5C"/>
                </a:solidFill>
                <a:latin typeface="Avenir Black" panose="02000503020000020003" pitchFamily="2" charset="0"/>
                <a:ea typeface="+mj-ea"/>
                <a:cs typeface="+mj-cs"/>
              </a:defRPr>
            </a:lvl1pPr>
          </a:lstStyle>
          <a:p>
            <a:r>
              <a:rPr lang="en-US" sz="4400" dirty="0">
                <a:solidFill>
                  <a:srgbClr val="DCC071"/>
                </a:solidFill>
                <a:ea typeface="Calibri" panose="020F0502020204030204" pitchFamily="34" charset="0"/>
                <a:cs typeface="Times New Roman" panose="02020603050405020304" pitchFamily="18" charset="0"/>
              </a:rPr>
              <a:t>Thank</a:t>
            </a:r>
            <a:r>
              <a:rPr lang="en-US" sz="4400" dirty="0">
                <a:solidFill>
                  <a:schemeClr val="bg1"/>
                </a:solidFill>
                <a:ea typeface="Calibri" panose="020F0502020204030204" pitchFamily="34" charset="0"/>
                <a:cs typeface="Times New Roman" panose="02020603050405020304" pitchFamily="18" charset="0"/>
              </a:rPr>
              <a:t> </a:t>
            </a:r>
            <a:r>
              <a:rPr lang="en-US" sz="4400" dirty="0">
                <a:solidFill>
                  <a:srgbClr val="DCC071"/>
                </a:solidFill>
                <a:ea typeface="Calibri" panose="020F0502020204030204" pitchFamily="34" charset="0"/>
                <a:cs typeface="Times New Roman" panose="02020603050405020304" pitchFamily="18" charset="0"/>
              </a:rPr>
              <a:t>you</a:t>
            </a:r>
            <a:endParaRPr lang="en-US" sz="8000" dirty="0">
              <a:solidFill>
                <a:srgbClr val="DCC071"/>
              </a:solidFill>
            </a:endParaRPr>
          </a:p>
        </p:txBody>
      </p:sp>
      <p:pic>
        <p:nvPicPr>
          <p:cNvPr id="3" name="Picture 2">
            <a:extLst>
              <a:ext uri="{FF2B5EF4-FFF2-40B4-BE49-F238E27FC236}">
                <a16:creationId xmlns:a16="http://schemas.microsoft.com/office/drawing/2014/main" id="{97259280-391D-2096-A6AF-C2351ED8E55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890541" y="5362832"/>
            <a:ext cx="2305669" cy="1547503"/>
          </a:xfrm>
          <a:prstGeom prst="rect">
            <a:avLst/>
          </a:prstGeom>
        </p:spPr>
      </p:pic>
    </p:spTree>
    <p:extLst>
      <p:ext uri="{BB962C8B-B14F-4D97-AF65-F5344CB8AC3E}">
        <p14:creationId xmlns:p14="http://schemas.microsoft.com/office/powerpoint/2010/main" val="262813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R&amp;C Colours">
  <a:themeElements>
    <a:clrScheme name="R&amp;C 1">
      <a:dk1>
        <a:srgbClr val="595A5C"/>
      </a:dk1>
      <a:lt1>
        <a:srgbClr val="FFFFFF"/>
      </a:lt1>
      <a:dk2>
        <a:srgbClr val="44546A"/>
      </a:dk2>
      <a:lt2>
        <a:srgbClr val="E7E6E6"/>
      </a:lt2>
      <a:accent1>
        <a:srgbClr val="B61F38"/>
      </a:accent1>
      <a:accent2>
        <a:srgbClr val="D36625"/>
      </a:accent2>
      <a:accent3>
        <a:srgbClr val="F79C1C"/>
      </a:accent3>
      <a:accent4>
        <a:srgbClr val="7BA4BA"/>
      </a:accent4>
      <a:accent5>
        <a:srgbClr val="00A5A7"/>
      </a:accent5>
      <a:accent6>
        <a:srgbClr val="02554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amp;C Colours" id="{F82C28E0-26E8-BA42-AEAD-05A84256727B}" vid="{CB77EBBF-3957-DF42-9498-927127FED4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84FC8F567B15349A4357CA127AD05B6" ma:contentTypeVersion="5" ma:contentTypeDescription="Create a new document." ma:contentTypeScope="" ma:versionID="ed129ad894acd0c75d3e9633aa7806ea">
  <xsd:schema xmlns:xsd="http://www.w3.org/2001/XMLSchema" xmlns:xs="http://www.w3.org/2001/XMLSchema" xmlns:p="http://schemas.microsoft.com/office/2006/metadata/properties" xmlns:ns2="9e1dbdce-34d7-48db-bf0b-e51e5a4aa60e" targetNamespace="http://schemas.microsoft.com/office/2006/metadata/properties" ma:root="true" ma:fieldsID="e2201e20f7a03bb960e145587555b530" ns2:_="">
    <xsd:import namespace="9e1dbdce-34d7-48db-bf0b-e51e5a4aa6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THUMBNAI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dbdce-34d7-48db-bf0b-e51e5a4aa6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THUMBNAIL" ma:index="12" nillable="true" ma:displayName="THUMBNAIL" ma:format="Hyperlink" ma:internalName="THUMBNAIL">
      <xsd:complexType>
        <xsd:complexContent>
          <xsd:extension base="dms:URL">
            <xsd:sequence>
              <xsd:element name="Url" type="dms:ValidUrl" minOccurs="0" nillable="true"/>
              <xsd:element name="Description" type="xsd:string"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HUMBNAIL xmlns="9e1dbdce-34d7-48db-bf0b-e51e5a4aa60e">
      <Url>https://firstrandgroup.sharepoint.com/sites/SyncIn/PublishingImages/Templates/COIN.PNG</Url>
      <Description>/sites/SyncIn/PublishingImages/Templates/COIN.PNG</Description>
    </THUMBNAI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72B06B4-560F-4046-BBE9-1A2C7B1F9E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dbdce-34d7-48db-bf0b-e51e5a4aa6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6759D1C-8392-43B6-B580-7B6CB2208C60}">
  <ds:schemaRefs>
    <ds:schemaRef ds:uri="http://schemas.microsoft.com/office/2006/metadata/properties"/>
    <ds:schemaRef ds:uri="http://schemas.microsoft.com/office/infopath/2007/PartnerControls"/>
    <ds:schemaRef ds:uri="4310989d-47a6-490f-b7ff-e339c9d2950a"/>
    <ds:schemaRef ds:uri="9e1dbdce-34d7-48db-bf0b-e51e5a4aa60e"/>
  </ds:schemaRefs>
</ds:datastoreItem>
</file>

<file path=customXml/itemProps3.xml><?xml version="1.0" encoding="utf-8"?>
<ds:datastoreItem xmlns:ds="http://schemas.openxmlformats.org/officeDocument/2006/customXml" ds:itemID="{741F19AA-A1DC-4AC2-ABAB-1C4C59978E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R&amp;C Colours</Template>
  <TotalTime>5368</TotalTime>
  <Words>670</Words>
  <Application>Microsoft Office PowerPoint</Application>
  <PresentationFormat>Widescreen</PresentationFormat>
  <Paragraphs>64</Paragraphs>
  <Slides>10</Slides>
  <Notes>2</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R&amp;C Colours</vt:lpstr>
      <vt:lpstr>PowerPoint Presentation</vt:lpstr>
      <vt:lpstr>Elite Wealth Data Migration to the Platform</vt:lpstr>
      <vt:lpstr>What we are solving for:</vt:lpstr>
      <vt:lpstr>What we are solving for (definitions):</vt:lpstr>
      <vt:lpstr>What we are solving for (definitions continued):</vt:lpstr>
      <vt:lpstr>What we are solving for (DBs):</vt:lpstr>
      <vt:lpstr>What we are solving for (data products - Pharos):</vt:lpstr>
      <vt:lpstr>What we are solving for (platform factors):</vt:lpstr>
      <vt:lpstr>Appendix 1 – Current RACI: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R&amp;C SA Coin Template</dc:title>
  <dc:creator>Wisbey, Dean</dc:creator>
  <cp:lastModifiedBy>Wetselaar, Jacqueline</cp:lastModifiedBy>
  <cp:revision>534</cp:revision>
  <dcterms:created xsi:type="dcterms:W3CDTF">2021-02-04T07:56:22Z</dcterms:created>
  <dcterms:modified xsi:type="dcterms:W3CDTF">2026-04-27T16:31:19Z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16eec4e-c7b8-491d-b7d8-90a69632743d_Enabled">
    <vt:lpwstr>true</vt:lpwstr>
  </property>
  <property fmtid="{D5CDD505-2E9C-101B-9397-08002B2CF9AE}" pid="3" name="MSIP_Label_216eec4e-c7b8-491d-b7d8-90a69632743d_SetDate">
    <vt:lpwstr>2021-02-04T07:56:22Z</vt:lpwstr>
  </property>
  <property fmtid="{D5CDD505-2E9C-101B-9397-08002B2CF9AE}" pid="4" name="MSIP_Label_216eec4e-c7b8-491d-b7d8-90a69632743d_Method">
    <vt:lpwstr>Standard</vt:lpwstr>
  </property>
  <property fmtid="{D5CDD505-2E9C-101B-9397-08002B2CF9AE}" pid="5" name="MSIP_Label_216eec4e-c7b8-491d-b7d8-90a69632743d_Name">
    <vt:lpwstr>216eec4e-c7b8-491d-b7d8-90a69632743d</vt:lpwstr>
  </property>
  <property fmtid="{D5CDD505-2E9C-101B-9397-08002B2CF9AE}" pid="6" name="MSIP_Label_216eec4e-c7b8-491d-b7d8-90a69632743d_SiteId">
    <vt:lpwstr>4032514a-830a-4f20-9539-81bbc35b3cd9</vt:lpwstr>
  </property>
  <property fmtid="{D5CDD505-2E9C-101B-9397-08002B2CF9AE}" pid="7" name="MSIP_Label_216eec4e-c7b8-491d-b7d8-90a69632743d_ActionId">
    <vt:lpwstr>31f6e599-25e9-403e-b5d2-e2547ae71daf</vt:lpwstr>
  </property>
  <property fmtid="{D5CDD505-2E9C-101B-9397-08002B2CF9AE}" pid="8" name="MSIP_Label_216eec4e-c7b8-491d-b7d8-90a69632743d_ContentBits">
    <vt:lpwstr>0</vt:lpwstr>
  </property>
  <property fmtid="{D5CDD505-2E9C-101B-9397-08002B2CF9AE}" pid="9" name="ContentTypeId">
    <vt:lpwstr>0x010100B84FC8F567B15349A4357CA127AD05B6</vt:lpwstr>
  </property>
</Properties>
</file>