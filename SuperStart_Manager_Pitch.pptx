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7030"/>
          </a:solidFill>
          <a:ln w="12700">
            <a:solidFill>
              <a:srgbClr val="F07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-1005840"/>
            <a:ext cx="4114800" cy="4114800"/>
          </a:xfrm>
          <a:prstGeom prst="ellipse">
            <a:avLst/>
          </a:prstGeom>
          <a:solidFill>
            <a:srgbClr val="0A7C8C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-457200"/>
            <a:ext cx="2926080" cy="2926080"/>
          </a:xfrm>
          <a:prstGeom prst="ellipse">
            <a:avLst/>
          </a:prstGeom>
          <a:solidFill>
            <a:srgbClr val="0D7080"/>
          </a:solidFill>
          <a:ln w="12700">
            <a:solidFill>
              <a:srgbClr val="0D7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4663440"/>
            <a:ext cx="8979408" cy="73152"/>
          </a:xfrm>
          <a:prstGeom prst="rect">
            <a:avLst/>
          </a:prstGeom>
          <a:solidFill>
            <a:srgbClr val="7FD4DF"/>
          </a:solidFill>
          <a:ln w="12700">
            <a:solidFill>
              <a:srgbClr val="7FD4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8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FIRSTRAND GROUP  |  GRADUATE MENTORSHIP PORTFOLIO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SuperStart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411480" y="239572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07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Programme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30906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8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10-minute brief for managers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" y="41605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can help every new joiner on your team get the start they deserve.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65A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everyone gets the same start.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D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were asked to solve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3931920" cy="26060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61872"/>
            <a:ext cx="73152" cy="2606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264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lucky joiner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56232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8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 in the right team. Has a manager who invests in them. Gets introduced to the right people. Feels confident asking questions. Builds momentum fast.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3410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Thrives.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261872"/>
            <a:ext cx="3931920" cy="260604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61872"/>
            <a:ext cx="73152" cy="2606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4264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unlucky joiner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856232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8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 in a busy team. Manager is stretched. No one checks in. Afraid to ask for help. Feels invisible. Isn't sure if they're doing okay or falling behind.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0" y="3410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— or leaves.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60520" y="231343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6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41879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organisation. Same potential. Different outcome — determined by luck, not design.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07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SuperStart is structured, peer-led mentorship — built into the system.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1965960" cy="1828800"/>
          </a:xfrm>
          <a:prstGeom prst="rect">
            <a:avLst/>
          </a:prstGeom>
          <a:solidFill>
            <a:srgbClr val="0A7C8C"/>
          </a:solidFill>
          <a:ln w="12700">
            <a:solidFill>
              <a:srgbClr val="0D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508760"/>
            <a:ext cx="1965960" cy="64008"/>
          </a:xfrm>
          <a:prstGeom prst="rect">
            <a:avLst/>
          </a:prstGeom>
          <a:solidFill>
            <a:srgbClr val="F07030"/>
          </a:solidFill>
          <a:ln w="12700">
            <a:solidFill>
              <a:srgbClr val="F07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62763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7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5-month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2267712"/>
            <a:ext cx="1783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cycle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cohort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14600" y="1508760"/>
            <a:ext cx="1965960" cy="1828800"/>
          </a:xfrm>
          <a:prstGeom prst="rect">
            <a:avLst/>
          </a:prstGeom>
          <a:solidFill>
            <a:srgbClr val="0A7C8C"/>
          </a:solidFill>
          <a:ln w="12700">
            <a:solidFill>
              <a:srgbClr val="0D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14600" y="1508760"/>
            <a:ext cx="1965960" cy="64008"/>
          </a:xfrm>
          <a:prstGeom prst="rect">
            <a:avLst/>
          </a:prstGeom>
          <a:solidFill>
            <a:srgbClr val="7FD4DF"/>
          </a:solidFill>
          <a:ln w="12700">
            <a:solidFill>
              <a:srgbClr val="7FD4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62763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FD4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2 hrs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06040" y="2267712"/>
            <a:ext cx="1783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person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1965960" cy="1828800"/>
          </a:xfrm>
          <a:prstGeom prst="rect">
            <a:avLst/>
          </a:prstGeom>
          <a:solidFill>
            <a:srgbClr val="0A7C8C"/>
          </a:solidFill>
          <a:ln w="12700">
            <a:solidFill>
              <a:srgbClr val="0D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508760"/>
            <a:ext cx="1965960" cy="64008"/>
          </a:xfrm>
          <a:prstGeom prst="rect">
            <a:avLst/>
          </a:prstGeom>
          <a:solidFill>
            <a:srgbClr val="F5A06A"/>
          </a:solidFill>
          <a:ln w="12700">
            <a:solidFill>
              <a:srgbClr val="F5A0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62763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0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Workday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54880" y="2267712"/>
            <a:ext cx="1783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embedded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systems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12280" y="1508760"/>
            <a:ext cx="1965960" cy="1828800"/>
          </a:xfrm>
          <a:prstGeom prst="rect">
            <a:avLst/>
          </a:prstGeom>
          <a:solidFill>
            <a:srgbClr val="0A7C8C"/>
          </a:solidFill>
          <a:ln w="12700">
            <a:solidFill>
              <a:srgbClr val="0D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12280" y="1508760"/>
            <a:ext cx="1965960" cy="64008"/>
          </a:xfrm>
          <a:prstGeom prst="rect">
            <a:avLst/>
          </a:prstGeom>
          <a:solidFill>
            <a:srgbClr val="0D9EAF"/>
          </a:solidFill>
          <a:ln w="12700">
            <a:solidFill>
              <a:srgbClr val="0D9E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62763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E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cohorts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903720" y="2267712"/>
            <a:ext cx="1783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520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and mentees are matched, trained, and guided through a defined journey — with check-ins, development themes, and close-out built in. Everything is tracked. Nothing is left to chance.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 spreadsheet-and-WhatsApp operation. It lives in Workday and outlasts any single cohort.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65A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structured journey — not an open-ended arrangement.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987552"/>
            <a:ext cx="1536192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7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987552"/>
            <a:ext cx="1536192" cy="64008"/>
          </a:xfrm>
          <a:prstGeom prst="rect">
            <a:avLst/>
          </a:prstGeom>
          <a:solidFill>
            <a:srgbClr val="0A7C8C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7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664208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Sourcing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" y="2212848"/>
            <a:ext cx="138988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recruited &amp; confirmed before mentees onboard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10512" y="2395728"/>
            <a:ext cx="173736" cy="36576"/>
          </a:xfrm>
          <a:prstGeom prst="rect">
            <a:avLst/>
          </a:prstGeom>
          <a:solidFill>
            <a:srgbClr val="7FD4DF"/>
          </a:solidFill>
          <a:ln w="12700">
            <a:solidFill>
              <a:srgbClr val="7FD4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84248" y="987552"/>
            <a:ext cx="1536192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7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84248" y="987552"/>
            <a:ext cx="1536192" cy="64008"/>
          </a:xfrm>
          <a:prstGeom prst="rect">
            <a:avLst/>
          </a:prstGeom>
          <a:solidFill>
            <a:srgbClr val="0A7C8C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29968" y="109728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7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029968" y="1664208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57400" y="2212848"/>
            <a:ext cx="138988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on development needs, experience &amp; availability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20440" y="2395728"/>
            <a:ext cx="173736" cy="36576"/>
          </a:xfrm>
          <a:prstGeom prst="rect">
            <a:avLst/>
          </a:prstGeom>
          <a:solidFill>
            <a:srgbClr val="7FD4DF"/>
          </a:solidFill>
          <a:ln w="12700">
            <a:solidFill>
              <a:srgbClr val="7FD4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94176" y="987552"/>
            <a:ext cx="1536192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7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94176" y="987552"/>
            <a:ext cx="1536192" cy="64008"/>
          </a:xfrm>
          <a:prstGeom prst="rect">
            <a:avLst/>
          </a:prstGeom>
          <a:solidFill>
            <a:srgbClr val="0A7C8C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39896" y="109728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7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739896" y="1664208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Training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67328" y="2212848"/>
            <a:ext cx="138988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mentor &amp; mentee aligned on expectations from day one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30368" y="2395728"/>
            <a:ext cx="173736" cy="36576"/>
          </a:xfrm>
          <a:prstGeom prst="rect">
            <a:avLst/>
          </a:prstGeom>
          <a:solidFill>
            <a:srgbClr val="7FD4DF"/>
          </a:solidFill>
          <a:ln w="12700">
            <a:solidFill>
              <a:srgbClr val="7FD4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04104" y="987552"/>
            <a:ext cx="1536192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7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04104" y="987552"/>
            <a:ext cx="1536192" cy="64008"/>
          </a:xfrm>
          <a:prstGeom prst="rect">
            <a:avLst/>
          </a:prstGeom>
          <a:solidFill>
            <a:srgbClr val="0A7C8C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9824" y="109728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7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449824" y="1664208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5-Month Cycle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77256" y="2212848"/>
            <a:ext cx="138988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themes: confidence → skills → career navigation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0296" y="2395728"/>
            <a:ext cx="173736" cy="36576"/>
          </a:xfrm>
          <a:prstGeom prst="rect">
            <a:avLst/>
          </a:prstGeom>
          <a:solidFill>
            <a:srgbClr val="7FD4DF"/>
          </a:solidFill>
          <a:ln w="12700">
            <a:solidFill>
              <a:srgbClr val="7FD4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14032" y="987552"/>
            <a:ext cx="1536192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7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114032" y="987552"/>
            <a:ext cx="1536192" cy="64008"/>
          </a:xfrm>
          <a:prstGeom prst="rect">
            <a:avLst/>
          </a:prstGeom>
          <a:solidFill>
            <a:srgbClr val="0A7C8C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59752" y="109728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7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159752" y="1664208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Close-Out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87184" y="2212848"/>
            <a:ext cx="138988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captured. Insights feed into the next cohort.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160520"/>
            <a:ext cx="8595360" cy="594360"/>
          </a:xfrm>
          <a:prstGeom prst="rect">
            <a:avLst/>
          </a:prstGeom>
          <a:solidFill>
            <a:srgbClr val="FDE8DA"/>
          </a:solidFill>
          <a:ln w="12700">
            <a:solidFill>
              <a:srgbClr val="F070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07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Your role as manager: one conversation with your team member at the start — let them know this is something you support.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5A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in it for everyone.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2743200" cy="3749040"/>
          </a:xfrm>
          <a:prstGeom prst="rect">
            <a:avLst/>
          </a:prstGeom>
          <a:solidFill>
            <a:srgbClr val="E0F7FA"/>
          </a:solidFill>
          <a:ln w="12700">
            <a:solidFill>
              <a:srgbClr val="0A7C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868680"/>
            <a:ext cx="2743200" cy="73152"/>
          </a:xfrm>
          <a:prstGeom prst="rect">
            <a:avLst/>
          </a:prstGeom>
          <a:solidFill>
            <a:srgbClr val="0A7C8C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87552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members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57276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8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safety to ask questions early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185416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8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confidence in their role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798064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8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Clearer expectations — less guessing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41071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8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trusted guide outside their direct line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868680"/>
            <a:ext cx="2743200" cy="3749040"/>
          </a:xfrm>
          <a:prstGeom prst="rect">
            <a:avLst/>
          </a:prstGeom>
          <a:solidFill>
            <a:srgbClr val="FDE8DA"/>
          </a:solidFill>
          <a:ln w="12700">
            <a:solidFill>
              <a:srgbClr val="F07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868680"/>
            <a:ext cx="2743200" cy="73152"/>
          </a:xfrm>
          <a:prstGeom prst="rect">
            <a:avLst/>
          </a:prstGeom>
          <a:solidFill>
            <a:srgbClr val="F07030"/>
          </a:solidFill>
          <a:ln w="12700">
            <a:solidFill>
              <a:srgbClr val="F07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987552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7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mentors (near-peers)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57276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8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&amp; coaching skills in practice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185416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8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of purpose &amp; contribution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2798064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8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as a developmental leader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341071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8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network building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868680"/>
            <a:ext cx="2743200" cy="3749040"/>
          </a:xfrm>
          <a:prstGeom prst="rect">
            <a:avLst/>
          </a:prstGeom>
          <a:solidFill>
            <a:srgbClr val="E5F6F8"/>
          </a:solidFill>
          <a:ln w="12700">
            <a:solidFill>
              <a:srgbClr val="0D9EA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868680"/>
            <a:ext cx="2743200" cy="73152"/>
          </a:xfrm>
          <a:prstGeom prst="rect">
            <a:avLst/>
          </a:prstGeom>
          <a:solidFill>
            <a:srgbClr val="0D9EAF"/>
          </a:solidFill>
          <a:ln w="12700">
            <a:solidFill>
              <a:srgbClr val="0D9E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987552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E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organisation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157276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8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ramp-up to effective contribution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2185416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8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early-career attrition risk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2798064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8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equitable onboarding experience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341071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08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early talent pipeline signal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D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doesn't replace line-manager accountability — it supplements it.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5A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07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didn't market this. People came to us.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160520" cy="1353312"/>
          </a:xfrm>
          <a:prstGeom prst="rect">
            <a:avLst/>
          </a:prstGeom>
          <a:solidFill>
            <a:srgbClr val="0A7C8C"/>
          </a:solidFill>
          <a:ln w="12700">
            <a:solidFill>
              <a:srgbClr val="0D9EA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4160520" cy="54864"/>
          </a:xfrm>
          <a:prstGeom prst="rect">
            <a:avLst/>
          </a:prstGeom>
          <a:solidFill>
            <a:srgbClr val="7FD4DF"/>
          </a:solidFill>
          <a:ln w="12700">
            <a:solidFill>
              <a:srgbClr val="7FD4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7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🙋  Organic demand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38862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First-year employees outside the formal cohort actively sought out the programme on their own.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944368"/>
            <a:ext cx="4160520" cy="1353312"/>
          </a:xfrm>
          <a:prstGeom prst="rect">
            <a:avLst/>
          </a:prstGeom>
          <a:solidFill>
            <a:srgbClr val="0A7C8C"/>
          </a:solidFill>
          <a:ln w="12700">
            <a:solidFill>
              <a:srgbClr val="0D9EA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944368"/>
            <a:ext cx="4160520" cy="54864"/>
          </a:xfrm>
          <a:prstGeom prst="rect">
            <a:avLst/>
          </a:prstGeom>
          <a:solidFill>
            <a:srgbClr val="7FD4DF"/>
          </a:solidFill>
          <a:ln w="12700">
            <a:solidFill>
              <a:srgbClr val="7FD4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03580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7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  Mentors recruiting mentors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38862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mentors proactively referred peers who wanted to join. Nobody asked them to.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1371600"/>
            <a:ext cx="4160520" cy="1353312"/>
          </a:xfrm>
          <a:prstGeom prst="rect">
            <a:avLst/>
          </a:prstGeom>
          <a:solidFill>
            <a:srgbClr val="0A7C8C"/>
          </a:solidFill>
          <a:ln w="12700">
            <a:solidFill>
              <a:srgbClr val="0D9EA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371600"/>
            <a:ext cx="4160520" cy="54864"/>
          </a:xfrm>
          <a:prstGeom prst="rect">
            <a:avLst/>
          </a:prstGeom>
          <a:solidFill>
            <a:srgbClr val="7FD4DF"/>
          </a:solidFill>
          <a:ln w="12700">
            <a:solidFill>
              <a:srgbClr val="7FD4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4630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7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Executive interest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828800"/>
            <a:ext cx="38862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Annemarie Vermeulen is already engaged. The ask hasn't been formally made — curiosity is already there.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2944368"/>
            <a:ext cx="4160520" cy="1353312"/>
          </a:xfrm>
          <a:prstGeom prst="rect">
            <a:avLst/>
          </a:prstGeom>
          <a:solidFill>
            <a:srgbClr val="0A7C8C"/>
          </a:solidFill>
          <a:ln w="12700">
            <a:solidFill>
              <a:srgbClr val="0D9EA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944368"/>
            <a:ext cx="4160520" cy="54864"/>
          </a:xfrm>
          <a:prstGeom prst="rect">
            <a:avLst/>
          </a:prstGeom>
          <a:solidFill>
            <a:srgbClr val="7FD4DF"/>
          </a:solidFill>
          <a:ln w="12700">
            <a:solidFill>
              <a:srgbClr val="7FD4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03580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7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Two successful handovers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401568"/>
            <a:ext cx="38862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cohort inherited a fully documented programme. It didn't die when the founders rotated out.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programme is already working. It just doesn't have formal standing yet.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5A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asking of you.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D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simple things — none of which require new time commitments.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7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82296" cy="1051560"/>
          </a:xfrm>
          <a:prstGeom prst="rect">
            <a:avLst/>
          </a:prstGeom>
          <a:solidFill>
            <a:srgbClr val="0A7C8C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08760"/>
            <a:ext cx="502920" cy="502920"/>
          </a:xfrm>
          <a:prstGeom prst="ellipse">
            <a:avLst/>
          </a:prstGeom>
          <a:solidFill>
            <a:srgbClr val="0A7C8C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15568" y="130759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A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your new joiners it exists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15568" y="1655064"/>
            <a:ext cx="74066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8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someone new joins your team, mention SuperStart. One conversation, two minutes. Let them know it's available and that you support their participation.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404872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7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04872"/>
            <a:ext cx="82296" cy="1051560"/>
          </a:xfrm>
          <a:prstGeom prst="rect">
            <a:avLst/>
          </a:prstGeom>
          <a:solidFill>
            <a:srgbClr val="F07030"/>
          </a:solidFill>
          <a:ln w="12700">
            <a:solidFill>
              <a:srgbClr val="F070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679192"/>
            <a:ext cx="502920" cy="502920"/>
          </a:xfrm>
          <a:prstGeom prst="ellipse">
            <a:avLst/>
          </a:prstGeom>
          <a:solidFill>
            <a:srgbClr val="F07030"/>
          </a:solidFill>
          <a:ln w="12700">
            <a:solidFill>
              <a:srgbClr val="F07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79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15568" y="2478024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07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space for it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15568" y="2825496"/>
            <a:ext cx="74066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8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takes under 2 hours per month per person. When it comes up in check-ins, treat it as development time — not a distraction. Your signal matters.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3575304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7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575304"/>
            <a:ext cx="82296" cy="1051560"/>
          </a:xfrm>
          <a:prstGeom prst="rect">
            <a:avLst/>
          </a:prstGeom>
          <a:solidFill>
            <a:srgbClr val="0D9EAF"/>
          </a:solidFill>
          <a:ln w="12700">
            <a:solidFill>
              <a:srgbClr val="0D9EA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849624"/>
            <a:ext cx="502920" cy="502920"/>
          </a:xfrm>
          <a:prstGeom prst="ellipse">
            <a:avLst/>
          </a:prstGeom>
          <a:solidFill>
            <a:srgbClr val="0D9EAF"/>
          </a:solidFill>
          <a:ln w="12700">
            <a:solidFill>
              <a:srgbClr val="0D9E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15568" y="364845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D9E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being a mentor yourself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115568" y="3995928"/>
            <a:ext cx="74066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8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12–24 months or more into your role, you're exactly who early-career employees learn from. Mentoring develops you as a leader too.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have to run this programme. You just need to not block it.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5A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you might be thinking.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87552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F7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87552"/>
            <a:ext cx="4206240" cy="64008"/>
          </a:xfrm>
          <a:prstGeom prst="rect">
            <a:avLst/>
          </a:prstGeom>
          <a:solidFill>
            <a:srgbClr val="F07030"/>
          </a:solidFill>
          <a:ln w="12700">
            <a:solidFill>
              <a:srgbClr val="F070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7899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6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Will this take time away from work?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572768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2 hours per month. The sessions happen outside of core delivery time and are designed to be light-touch for both parties.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926080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F7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926080"/>
            <a:ext cx="4206240" cy="64008"/>
          </a:xfrm>
          <a:prstGeom prst="rect">
            <a:avLst/>
          </a:prstGeom>
          <a:solidFill>
            <a:srgbClr val="F07030"/>
          </a:solidFill>
          <a:ln w="12700">
            <a:solidFill>
              <a:srgbClr val="F07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01752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6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Is this replacing my role as their manager?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3511296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SuperStart is a supplement, not a substitute. It handles the 'am I doing okay?' questions — freeing you to focus on delivery and growth.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987552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F7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87552"/>
            <a:ext cx="4206240" cy="64008"/>
          </a:xfrm>
          <a:prstGeom prst="rect">
            <a:avLst/>
          </a:prstGeom>
          <a:solidFill>
            <a:srgbClr val="F07030"/>
          </a:solidFill>
          <a:ln w="12700">
            <a:solidFill>
              <a:srgbClr val="F07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07899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6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What if my team member isn't in the grad cohort?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92040" y="1572768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working to expand access. For now, if your team member qualifies and is keen, that's all that's needed. Speak to us.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926080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F7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926080"/>
            <a:ext cx="4206240" cy="64008"/>
          </a:xfrm>
          <a:prstGeom prst="rect">
            <a:avLst/>
          </a:prstGeom>
          <a:solidFill>
            <a:srgbClr val="F07030"/>
          </a:solidFill>
          <a:ln w="12700">
            <a:solidFill>
              <a:srgbClr val="F07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01752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65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Who's accountable when you rotate out?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92040" y="3511296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programme already survived two cohort handovers. It lives in Workday, not in anyone's inbox. The 2026 team is running it right now.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D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question we haven't answered? Talk to the Mentorship Portfolio team directly.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7030"/>
          </a:solidFill>
          <a:ln w="12700">
            <a:solidFill>
              <a:srgbClr val="F07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1097280"/>
            <a:ext cx="4114800" cy="4114800"/>
          </a:xfrm>
          <a:prstGeom prst="ellipse">
            <a:avLst/>
          </a:prstGeom>
          <a:solidFill>
            <a:srgbClr val="0A7C8C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1645920"/>
            <a:ext cx="2926080" cy="2926080"/>
          </a:xfrm>
          <a:prstGeom prst="ellipse">
            <a:avLst/>
          </a:prstGeom>
          <a:solidFill>
            <a:srgbClr val="0D9EAF">
              <a:alpha val="60000"/>
            </a:srgbClr>
          </a:solidFill>
          <a:ln w="12700">
            <a:solidFill>
              <a:srgbClr val="0D9E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594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07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87552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one on your team should have to get lucky.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11480" y="2176272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SuperStart already exists. It already works.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just needs your awareness — and your backing.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3090672"/>
            <a:ext cx="274320" cy="274320"/>
          </a:xfrm>
          <a:prstGeom prst="ellipse">
            <a:avLst/>
          </a:prstGeom>
          <a:solidFill>
            <a:srgbClr val="F07030"/>
          </a:solidFill>
          <a:ln w="12700">
            <a:solidFill>
              <a:srgbClr val="F07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0632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it to your next new joiner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3566160"/>
            <a:ext cx="274320" cy="274320"/>
          </a:xfrm>
          <a:prstGeom prst="ellipse">
            <a:avLst/>
          </a:prstGeom>
          <a:solidFill>
            <a:srgbClr val="F07030"/>
          </a:solidFill>
          <a:ln w="12700">
            <a:solidFill>
              <a:srgbClr val="F070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53872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your team to participate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4041648"/>
            <a:ext cx="274320" cy="274320"/>
          </a:xfrm>
          <a:prstGeom prst="ellipse">
            <a:avLst/>
          </a:prstGeom>
          <a:solidFill>
            <a:srgbClr val="F07030"/>
          </a:solidFill>
          <a:ln w="12700">
            <a:solidFill>
              <a:srgbClr val="F07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014216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becoming a mentor yourself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43E49"/>
          </a:solidFill>
          <a:ln w="12700">
            <a:solidFill>
              <a:srgbClr val="043E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SuperStart Mentorship Portfolio  |  FirstRand Graduate Programme  |  Mikael Zandamela · Morris Nkomo · Nadia Abdul Khaliq · Zubair Hussain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SuperStart Mentorship Programme</dc:title>
  <dc:subject>PptxGenJS Presentation</dc:subject>
  <dc:creator>PptxGenJS</dc:creator>
  <cp:lastModifiedBy>PptxGenJS</cp:lastModifiedBy>
  <cp:revision>1</cp:revision>
  <dcterms:created xsi:type="dcterms:W3CDTF">2026-05-07T23:34:55Z</dcterms:created>
  <dcterms:modified xsi:type="dcterms:W3CDTF">2026-05-07T23:34:55Z</dcterms:modified>
</cp:coreProperties>
</file>